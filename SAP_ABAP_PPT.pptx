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57" r:id="rId2"/>
    <p:sldId id="259" r:id="rId3"/>
    <p:sldId id="284" r:id="rId4"/>
    <p:sldId id="285" r:id="rId5"/>
    <p:sldId id="286" r:id="rId6"/>
    <p:sldId id="287" r:id="rId7"/>
    <p:sldId id="288" r:id="rId8"/>
    <p:sldId id="289" r:id="rId9"/>
    <p:sldId id="291" r:id="rId10"/>
    <p:sldId id="292" r:id="rId11"/>
    <p:sldId id="290" r:id="rId12"/>
    <p:sldId id="293" r:id="rId13"/>
    <p:sldId id="294" r:id="rId14"/>
    <p:sldId id="295" r:id="rId15"/>
    <p:sldId id="296" r:id="rId16"/>
    <p:sldId id="297" r:id="rId17"/>
    <p:sldId id="270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6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F5597"/>
    <a:srgbClr val="2E74B5"/>
    <a:srgbClr val="0033CC"/>
    <a:srgbClr val="33CC33"/>
    <a:srgbClr val="FF0066"/>
    <a:srgbClr val="0000CC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6AC63B-7DEB-4E95-A268-2A1E8861DDA6}" v="6" dt="2026-04-25T10:27:57.09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5033" autoAdjust="0"/>
  </p:normalViewPr>
  <p:slideViewPr>
    <p:cSldViewPr snapToGrid="0" showGuides="1">
      <p:cViewPr varScale="1">
        <p:scale>
          <a:sx n="82" d="100"/>
          <a:sy n="82" d="100"/>
        </p:scale>
        <p:origin x="720" y="82"/>
      </p:cViewPr>
      <p:guideLst>
        <p:guide orient="horz" pos="2136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ERRA VARSHITHA" userId="022dffb07dc43ae4" providerId="LiveId" clId="{B22E3A87-9AA3-431D-A415-D1286AAADC4E}"/>
    <pc:docChg chg="modSld sldOrd">
      <pc:chgData name="YERRA VARSHITHA" userId="022dffb07dc43ae4" providerId="LiveId" clId="{B22E3A87-9AA3-431D-A415-D1286AAADC4E}" dt="2026-04-25T10:28:31.636" v="15"/>
      <pc:docMkLst>
        <pc:docMk/>
      </pc:docMkLst>
      <pc:sldChg chg="modSp mod">
        <pc:chgData name="YERRA VARSHITHA" userId="022dffb07dc43ae4" providerId="LiveId" clId="{B22E3A87-9AA3-431D-A415-D1286AAADC4E}" dt="2026-04-25T10:28:14.876" v="11" actId="20577"/>
        <pc:sldMkLst>
          <pc:docMk/>
          <pc:sldMk cId="4214402261" sldId="287"/>
        </pc:sldMkLst>
        <pc:spChg chg="mod">
          <ac:chgData name="YERRA VARSHITHA" userId="022dffb07dc43ae4" providerId="LiveId" clId="{B22E3A87-9AA3-431D-A415-D1286AAADC4E}" dt="2026-04-25T10:28:14.876" v="11" actId="20577"/>
          <ac:spMkLst>
            <pc:docMk/>
            <pc:sldMk cId="4214402261" sldId="287"/>
            <ac:spMk id="4" creationId="{D5DDD723-C670-BE2F-03A0-49F449802009}"/>
          </ac:spMkLst>
        </pc:spChg>
      </pc:sldChg>
      <pc:sldChg chg="modSp mod">
        <pc:chgData name="YERRA VARSHITHA" userId="022dffb07dc43ae4" providerId="LiveId" clId="{B22E3A87-9AA3-431D-A415-D1286AAADC4E}" dt="2026-04-25T10:27:57.088" v="10" actId="1076"/>
        <pc:sldMkLst>
          <pc:docMk/>
          <pc:sldMk cId="1294127287" sldId="288"/>
        </pc:sldMkLst>
        <pc:spChg chg="mod">
          <ac:chgData name="YERRA VARSHITHA" userId="022dffb07dc43ae4" providerId="LiveId" clId="{B22E3A87-9AA3-431D-A415-D1286AAADC4E}" dt="2026-04-25T10:27:57.088" v="10" actId="1076"/>
          <ac:spMkLst>
            <pc:docMk/>
            <pc:sldMk cId="1294127287" sldId="288"/>
            <ac:spMk id="8" creationId="{F71D215C-66FC-41E3-EDA0-DA3632BB0CC5}"/>
          </ac:spMkLst>
        </pc:spChg>
      </pc:sldChg>
      <pc:sldChg chg="ord">
        <pc:chgData name="YERRA VARSHITHA" userId="022dffb07dc43ae4" providerId="LiveId" clId="{B22E3A87-9AA3-431D-A415-D1286AAADC4E}" dt="2026-04-25T10:28:28.485" v="13"/>
        <pc:sldMkLst>
          <pc:docMk/>
          <pc:sldMk cId="3991776022" sldId="291"/>
        </pc:sldMkLst>
      </pc:sldChg>
      <pc:sldChg chg="ord">
        <pc:chgData name="YERRA VARSHITHA" userId="022dffb07dc43ae4" providerId="LiveId" clId="{B22E3A87-9AA3-431D-A415-D1286AAADC4E}" dt="2026-04-25T10:28:31.636" v="15"/>
        <pc:sldMkLst>
          <pc:docMk/>
          <pc:sldMk cId="2432158951" sldId="29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E01F3C-C27B-465B-A273-BC74619B8A22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747463-D813-48B6-A11C-461DFD224FFA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:notes"/>
          <p:cNvSpPr txBox="1">
            <a:spLocks noGrp="1"/>
          </p:cNvSpPr>
          <p:nvPr>
            <p:ph type="body" idx="1"/>
          </p:nvPr>
        </p:nvSpPr>
        <p:spPr>
          <a:xfrm>
            <a:off x="1735138" y="4691063"/>
            <a:ext cx="13877925" cy="3838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  <p:sp>
        <p:nvSpPr>
          <p:cNvPr id="92" name="Google Shape;9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49925" y="1219200"/>
            <a:ext cx="5848350" cy="3289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:notes"/>
          <p:cNvSpPr txBox="1">
            <a:spLocks noGrp="1"/>
          </p:cNvSpPr>
          <p:nvPr>
            <p:ph type="body" idx="1"/>
          </p:nvPr>
        </p:nvSpPr>
        <p:spPr>
          <a:xfrm>
            <a:off x="1735138" y="4691063"/>
            <a:ext cx="13877925" cy="3838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  <p:sp>
        <p:nvSpPr>
          <p:cNvPr id="92" name="Google Shape;9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49925" y="1219200"/>
            <a:ext cx="5848350" cy="3289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>
          <a:extLst>
            <a:ext uri="{FF2B5EF4-FFF2-40B4-BE49-F238E27FC236}">
              <a16:creationId xmlns:a16="http://schemas.microsoft.com/office/drawing/2014/main" id="{640E63D3-61C8-709E-27B9-C5C0AB54BF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:notes">
            <a:extLst>
              <a:ext uri="{FF2B5EF4-FFF2-40B4-BE49-F238E27FC236}">
                <a16:creationId xmlns:a16="http://schemas.microsoft.com/office/drawing/2014/main" id="{99F6F980-6E2A-30DF-B889-81B4001D0E4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735138" y="4691063"/>
            <a:ext cx="13877925" cy="3838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  <p:sp>
        <p:nvSpPr>
          <p:cNvPr id="92" name="Google Shape;92;p1:notes">
            <a:extLst>
              <a:ext uri="{FF2B5EF4-FFF2-40B4-BE49-F238E27FC236}">
                <a16:creationId xmlns:a16="http://schemas.microsoft.com/office/drawing/2014/main" id="{447F373E-0DF7-0FC7-75AF-07383F1DBD4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5749925" y="1219200"/>
            <a:ext cx="5848350" cy="3289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9010815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>
          <a:extLst>
            <a:ext uri="{FF2B5EF4-FFF2-40B4-BE49-F238E27FC236}">
              <a16:creationId xmlns:a16="http://schemas.microsoft.com/office/drawing/2014/main" id="{1DF20D7F-67B8-2007-8DFB-B35B88B57D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:notes">
            <a:extLst>
              <a:ext uri="{FF2B5EF4-FFF2-40B4-BE49-F238E27FC236}">
                <a16:creationId xmlns:a16="http://schemas.microsoft.com/office/drawing/2014/main" id="{5676D0AC-5BB2-E90A-F072-E17E7772F86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735138" y="4691063"/>
            <a:ext cx="13877925" cy="3838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  <p:sp>
        <p:nvSpPr>
          <p:cNvPr id="92" name="Google Shape;92;p1:notes">
            <a:extLst>
              <a:ext uri="{FF2B5EF4-FFF2-40B4-BE49-F238E27FC236}">
                <a16:creationId xmlns:a16="http://schemas.microsoft.com/office/drawing/2014/main" id="{4EDA4B80-05EF-5CA7-FE42-6805A18E650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5749925" y="1219200"/>
            <a:ext cx="5848350" cy="3289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3339012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>
          <a:extLst>
            <a:ext uri="{FF2B5EF4-FFF2-40B4-BE49-F238E27FC236}">
              <a16:creationId xmlns:a16="http://schemas.microsoft.com/office/drawing/2014/main" id="{415E09AD-5192-E9D0-15A2-1EF1044635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:notes">
            <a:extLst>
              <a:ext uri="{FF2B5EF4-FFF2-40B4-BE49-F238E27FC236}">
                <a16:creationId xmlns:a16="http://schemas.microsoft.com/office/drawing/2014/main" id="{0D642FE1-8542-C29F-DABA-774F641CD71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735138" y="4691063"/>
            <a:ext cx="13877925" cy="3838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  <p:sp>
        <p:nvSpPr>
          <p:cNvPr id="92" name="Google Shape;92;p1:notes">
            <a:extLst>
              <a:ext uri="{FF2B5EF4-FFF2-40B4-BE49-F238E27FC236}">
                <a16:creationId xmlns:a16="http://schemas.microsoft.com/office/drawing/2014/main" id="{432FC07B-4201-9315-2364-F9E5CB2842A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5749925" y="1219200"/>
            <a:ext cx="5848350" cy="3289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5293689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>
          <a:extLst>
            <a:ext uri="{FF2B5EF4-FFF2-40B4-BE49-F238E27FC236}">
              <a16:creationId xmlns:a16="http://schemas.microsoft.com/office/drawing/2014/main" id="{C6D475D6-73EB-D797-FEC4-729BDD9079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:notes">
            <a:extLst>
              <a:ext uri="{FF2B5EF4-FFF2-40B4-BE49-F238E27FC236}">
                <a16:creationId xmlns:a16="http://schemas.microsoft.com/office/drawing/2014/main" id="{066FBC4D-26A4-AF81-EFFF-318A8CC916F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735138" y="4691063"/>
            <a:ext cx="13877925" cy="3838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  <p:sp>
        <p:nvSpPr>
          <p:cNvPr id="92" name="Google Shape;92;p1:notes">
            <a:extLst>
              <a:ext uri="{FF2B5EF4-FFF2-40B4-BE49-F238E27FC236}">
                <a16:creationId xmlns:a16="http://schemas.microsoft.com/office/drawing/2014/main" id="{113BDA7C-EA2A-F270-AB45-0F2EE182FE0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5749925" y="1219200"/>
            <a:ext cx="5848350" cy="3289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653210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>
          <a:extLst>
            <a:ext uri="{FF2B5EF4-FFF2-40B4-BE49-F238E27FC236}">
              <a16:creationId xmlns:a16="http://schemas.microsoft.com/office/drawing/2014/main" id="{2C8D42CA-C104-C53D-22DE-5BAFFD423E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:notes">
            <a:extLst>
              <a:ext uri="{FF2B5EF4-FFF2-40B4-BE49-F238E27FC236}">
                <a16:creationId xmlns:a16="http://schemas.microsoft.com/office/drawing/2014/main" id="{A29AE4E4-EE97-7487-F254-7E857FADF68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735138" y="4691063"/>
            <a:ext cx="13877925" cy="3838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  <p:sp>
        <p:nvSpPr>
          <p:cNvPr id="92" name="Google Shape;92;p1:notes">
            <a:extLst>
              <a:ext uri="{FF2B5EF4-FFF2-40B4-BE49-F238E27FC236}">
                <a16:creationId xmlns:a16="http://schemas.microsoft.com/office/drawing/2014/main" id="{5CEFB1EE-7A13-A5AD-CECB-3274609EA33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5749925" y="1219200"/>
            <a:ext cx="5848350" cy="3289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6534098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>
          <a:extLst>
            <a:ext uri="{FF2B5EF4-FFF2-40B4-BE49-F238E27FC236}">
              <a16:creationId xmlns:a16="http://schemas.microsoft.com/office/drawing/2014/main" id="{28E7DE2E-AB6F-D8A2-6734-638A3B9C4F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:notes">
            <a:extLst>
              <a:ext uri="{FF2B5EF4-FFF2-40B4-BE49-F238E27FC236}">
                <a16:creationId xmlns:a16="http://schemas.microsoft.com/office/drawing/2014/main" id="{11D91421-48E7-3164-D422-996FF57E84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735138" y="4691063"/>
            <a:ext cx="13877925" cy="3838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  <p:sp>
        <p:nvSpPr>
          <p:cNvPr id="92" name="Google Shape;92;p1:notes">
            <a:extLst>
              <a:ext uri="{FF2B5EF4-FFF2-40B4-BE49-F238E27FC236}">
                <a16:creationId xmlns:a16="http://schemas.microsoft.com/office/drawing/2014/main" id="{AD49E7CF-58F2-B93C-1463-96F63336A6C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5749925" y="1219200"/>
            <a:ext cx="5848350" cy="3289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4000151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>
          <a:extLst>
            <a:ext uri="{FF2B5EF4-FFF2-40B4-BE49-F238E27FC236}">
              <a16:creationId xmlns:a16="http://schemas.microsoft.com/office/drawing/2014/main" id="{6E0AD415-F6D3-696D-DCA2-CE3A6A88C7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:notes">
            <a:extLst>
              <a:ext uri="{FF2B5EF4-FFF2-40B4-BE49-F238E27FC236}">
                <a16:creationId xmlns:a16="http://schemas.microsoft.com/office/drawing/2014/main" id="{8E94CCF4-EA5A-310C-7EE3-0EC0984518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735138" y="4691063"/>
            <a:ext cx="13877925" cy="3838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  <p:sp>
        <p:nvSpPr>
          <p:cNvPr id="92" name="Google Shape;92;p1:notes">
            <a:extLst>
              <a:ext uri="{FF2B5EF4-FFF2-40B4-BE49-F238E27FC236}">
                <a16:creationId xmlns:a16="http://schemas.microsoft.com/office/drawing/2014/main" id="{A6ECB711-3D9F-31E9-3A2F-6642498B565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5749925" y="1219200"/>
            <a:ext cx="5848350" cy="3289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2861277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>
          <a:extLst>
            <a:ext uri="{FF2B5EF4-FFF2-40B4-BE49-F238E27FC236}">
              <a16:creationId xmlns:a16="http://schemas.microsoft.com/office/drawing/2014/main" id="{E63F33AA-CDA4-C43A-C47D-E81CADF487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:notes">
            <a:extLst>
              <a:ext uri="{FF2B5EF4-FFF2-40B4-BE49-F238E27FC236}">
                <a16:creationId xmlns:a16="http://schemas.microsoft.com/office/drawing/2014/main" id="{4F4DE930-9E4A-2DA8-2024-5B09803019C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735138" y="4691063"/>
            <a:ext cx="13877925" cy="3838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  <p:sp>
        <p:nvSpPr>
          <p:cNvPr id="92" name="Google Shape;92;p1:notes">
            <a:extLst>
              <a:ext uri="{FF2B5EF4-FFF2-40B4-BE49-F238E27FC236}">
                <a16:creationId xmlns:a16="http://schemas.microsoft.com/office/drawing/2014/main" id="{CD0B11BB-F417-C7F3-FEF6-2EB0730CDB2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5749925" y="1219200"/>
            <a:ext cx="5848350" cy="3289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581475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>
          <a:extLst>
            <a:ext uri="{FF2B5EF4-FFF2-40B4-BE49-F238E27FC236}">
              <a16:creationId xmlns:a16="http://schemas.microsoft.com/office/drawing/2014/main" id="{CA59B068-6AEA-1519-5084-95EC883B21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:notes">
            <a:extLst>
              <a:ext uri="{FF2B5EF4-FFF2-40B4-BE49-F238E27FC236}">
                <a16:creationId xmlns:a16="http://schemas.microsoft.com/office/drawing/2014/main" id="{853C2684-9255-5689-5217-1C6DB26DCB4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735138" y="4691063"/>
            <a:ext cx="13877925" cy="3838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  <p:sp>
        <p:nvSpPr>
          <p:cNvPr id="92" name="Google Shape;92;p1:notes">
            <a:extLst>
              <a:ext uri="{FF2B5EF4-FFF2-40B4-BE49-F238E27FC236}">
                <a16:creationId xmlns:a16="http://schemas.microsoft.com/office/drawing/2014/main" id="{B9289DA6-9FFC-8901-2A45-866828FE47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5749925" y="1219200"/>
            <a:ext cx="5848350" cy="3289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8745179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>
          <a:extLst>
            <a:ext uri="{FF2B5EF4-FFF2-40B4-BE49-F238E27FC236}">
              <a16:creationId xmlns:a16="http://schemas.microsoft.com/office/drawing/2014/main" id="{B66CE837-183F-BBF1-6A2F-0CAD748EE9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:notes">
            <a:extLst>
              <a:ext uri="{FF2B5EF4-FFF2-40B4-BE49-F238E27FC236}">
                <a16:creationId xmlns:a16="http://schemas.microsoft.com/office/drawing/2014/main" id="{7A2F4EB1-B350-6AA7-D49A-570DF49AD79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735138" y="4691063"/>
            <a:ext cx="13877925" cy="3838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  <p:sp>
        <p:nvSpPr>
          <p:cNvPr id="92" name="Google Shape;92;p1:notes">
            <a:extLst>
              <a:ext uri="{FF2B5EF4-FFF2-40B4-BE49-F238E27FC236}">
                <a16:creationId xmlns:a16="http://schemas.microsoft.com/office/drawing/2014/main" id="{28A11C23-E9FF-3696-B2A9-8C92A8F4FF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5749925" y="1219200"/>
            <a:ext cx="5848350" cy="3289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84749415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>
          <a:extLst>
            <a:ext uri="{FF2B5EF4-FFF2-40B4-BE49-F238E27FC236}">
              <a16:creationId xmlns:a16="http://schemas.microsoft.com/office/drawing/2014/main" id="{DF50CC32-0364-1E68-BE05-0C58511712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:notes">
            <a:extLst>
              <a:ext uri="{FF2B5EF4-FFF2-40B4-BE49-F238E27FC236}">
                <a16:creationId xmlns:a16="http://schemas.microsoft.com/office/drawing/2014/main" id="{009D98B6-C9D3-B28B-4500-3170DF60D3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735138" y="4691063"/>
            <a:ext cx="13877925" cy="3838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  <p:sp>
        <p:nvSpPr>
          <p:cNvPr id="92" name="Google Shape;92;p1:notes">
            <a:extLst>
              <a:ext uri="{FF2B5EF4-FFF2-40B4-BE49-F238E27FC236}">
                <a16:creationId xmlns:a16="http://schemas.microsoft.com/office/drawing/2014/main" id="{E73C2B54-FFE5-A6D1-8EB5-76BB53BCDD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5749925" y="1219200"/>
            <a:ext cx="5848350" cy="3289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99648538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>
          <a:extLst>
            <a:ext uri="{FF2B5EF4-FFF2-40B4-BE49-F238E27FC236}">
              <a16:creationId xmlns:a16="http://schemas.microsoft.com/office/drawing/2014/main" id="{108315B7-67C0-AEC8-6EDD-0B69550A9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:notes">
            <a:extLst>
              <a:ext uri="{FF2B5EF4-FFF2-40B4-BE49-F238E27FC236}">
                <a16:creationId xmlns:a16="http://schemas.microsoft.com/office/drawing/2014/main" id="{E95E560B-6654-81CC-6A1E-C2532DA4F53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735138" y="4691063"/>
            <a:ext cx="13877925" cy="3838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  <p:sp>
        <p:nvSpPr>
          <p:cNvPr id="92" name="Google Shape;92;p1:notes">
            <a:extLst>
              <a:ext uri="{FF2B5EF4-FFF2-40B4-BE49-F238E27FC236}">
                <a16:creationId xmlns:a16="http://schemas.microsoft.com/office/drawing/2014/main" id="{E6B8EA52-8688-7A36-5C3A-A42F4704F19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5749925" y="1219200"/>
            <a:ext cx="5848350" cy="3289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28840565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>
          <a:extLst>
            <a:ext uri="{FF2B5EF4-FFF2-40B4-BE49-F238E27FC236}">
              <a16:creationId xmlns:a16="http://schemas.microsoft.com/office/drawing/2014/main" id="{B512CC18-160D-4905-77A7-1DA551DFB3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:notes">
            <a:extLst>
              <a:ext uri="{FF2B5EF4-FFF2-40B4-BE49-F238E27FC236}">
                <a16:creationId xmlns:a16="http://schemas.microsoft.com/office/drawing/2014/main" id="{AAE5F3C0-E13D-0628-A804-DAF4E74C58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735138" y="4691063"/>
            <a:ext cx="13877925" cy="3838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  <p:sp>
        <p:nvSpPr>
          <p:cNvPr id="92" name="Google Shape;92;p1:notes">
            <a:extLst>
              <a:ext uri="{FF2B5EF4-FFF2-40B4-BE49-F238E27FC236}">
                <a16:creationId xmlns:a16="http://schemas.microsoft.com/office/drawing/2014/main" id="{87D624C3-B715-EE28-5DFA-082FA4E0FD5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5749925" y="1219200"/>
            <a:ext cx="5848350" cy="3289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50891880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>
          <a:extLst>
            <a:ext uri="{FF2B5EF4-FFF2-40B4-BE49-F238E27FC236}">
              <a16:creationId xmlns:a16="http://schemas.microsoft.com/office/drawing/2014/main" id="{528EA357-F94B-2704-54F9-E83DA1963A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:notes">
            <a:extLst>
              <a:ext uri="{FF2B5EF4-FFF2-40B4-BE49-F238E27FC236}">
                <a16:creationId xmlns:a16="http://schemas.microsoft.com/office/drawing/2014/main" id="{DBA3D0B1-A6BF-CD5B-42ED-599D9DF151A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735138" y="4691063"/>
            <a:ext cx="13877925" cy="3838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  <p:sp>
        <p:nvSpPr>
          <p:cNvPr id="92" name="Google Shape;92;p1:notes">
            <a:extLst>
              <a:ext uri="{FF2B5EF4-FFF2-40B4-BE49-F238E27FC236}">
                <a16:creationId xmlns:a16="http://schemas.microsoft.com/office/drawing/2014/main" id="{A95A3BD1-C4A3-610E-AE34-507E04EED9E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5749925" y="1219200"/>
            <a:ext cx="5848350" cy="3289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29915467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:notes"/>
          <p:cNvSpPr txBox="1">
            <a:spLocks noGrp="1"/>
          </p:cNvSpPr>
          <p:nvPr>
            <p:ph type="body" idx="1"/>
          </p:nvPr>
        </p:nvSpPr>
        <p:spPr>
          <a:xfrm>
            <a:off x="1735138" y="4691063"/>
            <a:ext cx="13877925" cy="3838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  <p:sp>
        <p:nvSpPr>
          <p:cNvPr id="92" name="Google Shape;9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49925" y="1219200"/>
            <a:ext cx="5848350" cy="3289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03-06-2024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Dayananda Sagar Academy of Technology &amp; Management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E81A6-A127-43E8-95CE-66D0428E50D2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03-06-2024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Dayananda Sagar Academy of Technology &amp; Management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E81A6-A127-43E8-95CE-66D0428E50D2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03-06-2024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Dayananda Sagar Academy of Technology &amp; Management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E81A6-A127-43E8-95CE-66D0428E50D2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03-06-2024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Dayananda Sagar Academy of Technology &amp; Management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E81A6-A127-43E8-95CE-66D0428E50D2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03-06-2024</a:t>
            </a:r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Dayananda Sagar Academy of Technology &amp; Management</a:t>
            </a:r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E81A6-A127-43E8-95CE-66D0428E50D2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03-06-2024</a:t>
            </a:r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Dayananda Sagar Academy of Technology &amp; Management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E81A6-A127-43E8-95CE-66D0428E50D2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03-06-2024</a:t>
            </a:r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Dayananda Sagar Academy of Technology &amp; Management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E81A6-A127-43E8-95CE-66D0428E50D2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03-06-2024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Dayananda Sagar Academy of Technology &amp; Management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E81A6-A127-43E8-95CE-66D0428E50D2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03-06-2024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Dayananda Sagar Academy of Technology &amp; Management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E81A6-A127-43E8-95CE-66D0428E50D2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03-06-2024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Dayananda Sagar Academy of Technology &amp; Management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E81A6-A127-43E8-95CE-66D0428E50D2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03-06-2024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Dayananda Sagar Academy of Technology &amp; Management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E81A6-A127-43E8-95CE-66D0428E50D2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2275057" y="610208"/>
            <a:ext cx="7641886" cy="2919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EAD"/>
              </a:buClr>
              <a:buSzPts val="1400"/>
              <a:buFont typeface="Arial" panose="020B0604020202020204"/>
              <a:buNone/>
              <a:defRPr sz="2110" b="1" i="0">
                <a:solidFill>
                  <a:srgbClr val="006EAD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body" idx="1"/>
          </p:nvPr>
        </p:nvSpPr>
        <p:spPr>
          <a:xfrm>
            <a:off x="613852" y="1567199"/>
            <a:ext cx="10964297" cy="175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265" b="0" i="0">
                <a:solidFill>
                  <a:schemeClr val="dk1"/>
                </a:solidFill>
                <a:latin typeface="Lucida Sans" panose="020B0602030504020204"/>
                <a:ea typeface="Lucida Sans" panose="020B0602030504020204"/>
                <a:cs typeface="Lucida Sans" panose="020B0602030504020204"/>
                <a:sym typeface="Lucida Sans" panose="020B0602030504020204"/>
              </a:defRPr>
            </a:lvl1pPr>
            <a:lvl2pPr marL="914400" lvl="1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ftr" idx="11"/>
          </p:nvPr>
        </p:nvSpPr>
        <p:spPr>
          <a:xfrm>
            <a:off x="8035742" y="6453840"/>
            <a:ext cx="3876270" cy="194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  <a:defRPr sz="1265" b="1" i="1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  <a:defRPr/>
            </a:lvl9pPr>
          </a:lstStyle>
          <a:p>
            <a:r>
              <a:rPr lang="en-GB"/>
              <a:t>Dayananda Sagar Academy of Technology &amp; Management</a:t>
            </a:r>
          </a:p>
        </p:txBody>
      </p:sp>
      <p:sp>
        <p:nvSpPr>
          <p:cNvPr id="19" name="Google Shape;19;p3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 panose="020F0502020204030204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  <a:defRPr/>
            </a:lvl9pPr>
          </a:lstStyle>
          <a:p>
            <a:r>
              <a:rPr lang="en-US"/>
              <a:t>03-06-2024</a:t>
            </a:r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sz="1265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03-06-2024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Dayananda Sagar Academy of Technology &amp; Management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EE81A6-A127-43E8-95CE-66D0428E50D2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9"/>
          <p:cNvSpPr>
            <a:spLocks noGrp="1"/>
          </p:cNvSpPr>
          <p:nvPr>
            <p:ph type="title"/>
          </p:nvPr>
        </p:nvSpPr>
        <p:spPr>
          <a:xfrm>
            <a:off x="1107976" y="1417221"/>
            <a:ext cx="9976044" cy="1511220"/>
          </a:xfrm>
        </p:spPr>
        <p:txBody>
          <a:bodyPr>
            <a:noAutofit/>
          </a:bodyPr>
          <a:lstStyle/>
          <a:p>
            <a:pPr algn="ctr"/>
            <a:r>
              <a:rPr lang="en-US" sz="3200" dirty="0"/>
              <a:t>Integrated SAP ABAP Solution for Materials Management (MM): ALV Report, Smart Forms, and Submit Report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Content Placeholder 7"/>
          <p:cNvSpPr txBox="1"/>
          <p:nvPr/>
        </p:nvSpPr>
        <p:spPr>
          <a:xfrm>
            <a:off x="3392175" y="4345661"/>
            <a:ext cx="5407646" cy="7301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IN" altLang="en-US" sz="1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Submitted By:</a:t>
            </a:r>
          </a:p>
          <a:p>
            <a:pPr marL="0" indent="0" algn="ctr">
              <a:buNone/>
            </a:pPr>
            <a:r>
              <a:rPr lang="en-IN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YERRA VARSHITHA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1010917"/>
            <a:ext cx="12192000" cy="45719"/>
          </a:xfrm>
          <a:prstGeom prst="rect">
            <a:avLst/>
          </a:prstGeom>
          <a:solidFill>
            <a:srgbClr val="00206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TextBox 27"/>
          <p:cNvSpPr txBox="1"/>
          <p:nvPr/>
        </p:nvSpPr>
        <p:spPr>
          <a:xfrm>
            <a:off x="470715" y="6397573"/>
            <a:ext cx="27035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Department of ECE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1276" y="43296"/>
            <a:ext cx="9592457" cy="95410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R="0" indent="0" algn="ctr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6197600" algn="l"/>
              </a:tabLst>
            </a:pPr>
            <a:r>
              <a:rPr kumimoji="0" lang="en-US" altLang="en-US" sz="2800" b="1" i="0" cap="none" normalizeH="0" baseline="0" dirty="0">
                <a:solidFill>
                  <a:srgbClr val="0033CC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SURE Trust - SKILL UPGRADATION FOR RURAL YOUTH EMPOWERMENT</a:t>
            </a:r>
            <a:endParaRPr kumimoji="0" lang="en-US" altLang="en-US" sz="1400" b="1" i="0" cap="none" normalizeH="0" baseline="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098" name="Picture 2" descr="SURE TRUST | LinkedIn">
            <a:extLst>
              <a:ext uri="{FF2B5EF4-FFF2-40B4-BE49-F238E27FC236}">
                <a16:creationId xmlns:a16="http://schemas.microsoft.com/office/drawing/2014/main" id="{C410E7BF-5010-7175-C036-613EB0DAE7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82" y="130118"/>
            <a:ext cx="780465" cy="7804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06003AE4-E7C2-DA05-C351-40530CD2D011}"/>
              </a:ext>
            </a:extLst>
          </p:cNvPr>
          <p:cNvSpPr txBox="1"/>
          <p:nvPr/>
        </p:nvSpPr>
        <p:spPr>
          <a:xfrm>
            <a:off x="3906035" y="5271755"/>
            <a:ext cx="4379925" cy="142343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IN" altLang="en-US" sz="1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Under the Guidance of:</a:t>
            </a:r>
          </a:p>
          <a:p>
            <a:pPr marL="0" indent="0" algn="ctr">
              <a:buNone/>
            </a:pPr>
            <a:r>
              <a:rPr lang="en-IN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Mr. </a:t>
            </a:r>
            <a:r>
              <a:rPr lang="en-IN" alt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Santoshkumar</a:t>
            </a:r>
            <a:r>
              <a:rPr lang="en-IN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Ramlakhan Pal</a:t>
            </a:r>
          </a:p>
          <a:p>
            <a:pPr marL="0" indent="0" algn="ctr">
              <a:buNone/>
            </a:pPr>
            <a:r>
              <a:rPr lang="en-IN" alt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SAP ABAP Associate Consultant</a:t>
            </a:r>
          </a:p>
          <a:p>
            <a:pPr marL="0" indent="0" algn="ctr">
              <a:buNone/>
            </a:pPr>
            <a:r>
              <a:rPr lang="en-IN" alt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Infosys Limited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ED040F-32D5-C056-871A-0DAE669FFA17}"/>
              </a:ext>
            </a:extLst>
          </p:cNvPr>
          <p:cNvSpPr txBox="1"/>
          <p:nvPr/>
        </p:nvSpPr>
        <p:spPr>
          <a:xfrm>
            <a:off x="3046428" y="3062293"/>
            <a:ext cx="609914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/>
              <a:t>COURSE</a:t>
            </a:r>
            <a:r>
              <a:rPr lang="en-US" sz="2000" dirty="0"/>
              <a:t>: SAP ABAP</a:t>
            </a:r>
          </a:p>
          <a:p>
            <a:pPr algn="ctr"/>
            <a:endParaRPr lang="en-IN" sz="2000" dirty="0"/>
          </a:p>
          <a:p>
            <a:pPr algn="ctr"/>
            <a:r>
              <a:rPr lang="en-IN" sz="2000" b="1" dirty="0"/>
              <a:t>DURATION: </a:t>
            </a:r>
            <a:r>
              <a:rPr lang="en-IN" sz="2000" dirty="0"/>
              <a:t>NOV 2025 – APRIL  2026 (6 Months)</a:t>
            </a:r>
          </a:p>
        </p:txBody>
      </p:sp>
      <p:pic>
        <p:nvPicPr>
          <p:cNvPr id="1026" name="Picture 2" descr="AICTE">
            <a:extLst>
              <a:ext uri="{FF2B5EF4-FFF2-40B4-BE49-F238E27FC236}">
                <a16:creationId xmlns:a16="http://schemas.microsoft.com/office/drawing/2014/main" id="{9B7BDF65-5297-F751-A68A-BA1DE8902A7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869" t="24268" r="17421" b="22886"/>
          <a:stretch>
            <a:fillRect/>
          </a:stretch>
        </p:blipFill>
        <p:spPr bwMode="auto">
          <a:xfrm>
            <a:off x="11160724" y="106055"/>
            <a:ext cx="828900" cy="828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" name="Google Shape;94;p1"/>
          <p:cNvGrpSpPr/>
          <p:nvPr/>
        </p:nvGrpSpPr>
        <p:grpSpPr>
          <a:xfrm>
            <a:off x="0" y="6350596"/>
            <a:ext cx="12192188" cy="507405"/>
            <a:chOff x="-514" y="9019181"/>
            <a:chExt cx="17348468" cy="721995"/>
          </a:xfrm>
        </p:grpSpPr>
        <p:sp>
          <p:nvSpPr>
            <p:cNvPr id="96" name="Google Shape;96;p1"/>
            <p:cNvSpPr/>
            <p:nvPr/>
          </p:nvSpPr>
          <p:spPr>
            <a:xfrm>
              <a:off x="5293059" y="9019181"/>
              <a:ext cx="1647825" cy="721995"/>
            </a:xfrm>
            <a:custGeom>
              <a:avLst/>
              <a:gdLst/>
              <a:ahLst/>
              <a:cxnLst/>
              <a:rect l="l" t="t" r="r" b="b"/>
              <a:pathLst>
                <a:path w="1647825" h="721995" extrusionOk="0">
                  <a:moveTo>
                    <a:pt x="1647578" y="0"/>
                  </a:moveTo>
                  <a:lnTo>
                    <a:pt x="357644" y="0"/>
                  </a:lnTo>
                  <a:lnTo>
                    <a:pt x="0" y="721979"/>
                  </a:lnTo>
                  <a:lnTo>
                    <a:pt x="1289933" y="721979"/>
                  </a:lnTo>
                  <a:lnTo>
                    <a:pt x="1647578" y="0"/>
                  </a:lnTo>
                  <a:close/>
                </a:path>
              </a:pathLst>
            </a:custGeom>
            <a:solidFill>
              <a:srgbClr val="FFF4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65"/>
                <a:buFont typeface="Arial" panose="020B0604020202020204"/>
                <a:buNone/>
              </a:pPr>
              <a:endParaRPr sz="12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7" name="Google Shape;97;p1"/>
            <p:cNvSpPr/>
            <p:nvPr/>
          </p:nvSpPr>
          <p:spPr>
            <a:xfrm>
              <a:off x="3260091" y="9019181"/>
              <a:ext cx="1647825" cy="721995"/>
            </a:xfrm>
            <a:custGeom>
              <a:avLst/>
              <a:gdLst/>
              <a:ahLst/>
              <a:cxnLst/>
              <a:rect l="l" t="t" r="r" b="b"/>
              <a:pathLst>
                <a:path w="1647825" h="721995" extrusionOk="0">
                  <a:moveTo>
                    <a:pt x="1647579" y="0"/>
                  </a:moveTo>
                  <a:lnTo>
                    <a:pt x="357645" y="0"/>
                  </a:lnTo>
                  <a:lnTo>
                    <a:pt x="0" y="721979"/>
                  </a:lnTo>
                  <a:lnTo>
                    <a:pt x="1289933" y="721979"/>
                  </a:lnTo>
                  <a:lnTo>
                    <a:pt x="1647579" y="0"/>
                  </a:lnTo>
                  <a:close/>
                </a:path>
              </a:pathLst>
            </a:custGeom>
            <a:solidFill>
              <a:srgbClr val="006EAD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65"/>
                <a:buFont typeface="Arial" panose="020B0604020202020204"/>
                <a:buNone/>
              </a:pPr>
              <a:endParaRPr sz="12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8" name="Google Shape;98;p1"/>
            <p:cNvSpPr/>
            <p:nvPr/>
          </p:nvSpPr>
          <p:spPr>
            <a:xfrm>
              <a:off x="5757299" y="9019181"/>
              <a:ext cx="11590655" cy="721995"/>
            </a:xfrm>
            <a:custGeom>
              <a:avLst/>
              <a:gdLst/>
              <a:ahLst/>
              <a:cxnLst/>
              <a:rect l="l" t="t" r="r" b="b"/>
              <a:pathLst>
                <a:path w="11590655" h="721995" extrusionOk="0">
                  <a:moveTo>
                    <a:pt x="11590369" y="0"/>
                  </a:moveTo>
                  <a:lnTo>
                    <a:pt x="0" y="0"/>
                  </a:lnTo>
                  <a:lnTo>
                    <a:pt x="0" y="721979"/>
                  </a:lnTo>
                  <a:lnTo>
                    <a:pt x="11590369" y="721979"/>
                  </a:lnTo>
                  <a:lnTo>
                    <a:pt x="11590369" y="0"/>
                  </a:lnTo>
                  <a:close/>
                </a:path>
              </a:pathLst>
            </a:custGeom>
            <a:solidFill>
              <a:srgbClr val="FFF4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65"/>
                <a:buFont typeface="Arial" panose="020B0604020202020204"/>
                <a:buNone/>
              </a:pPr>
              <a:endParaRPr sz="12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9" name="Google Shape;99;p1"/>
            <p:cNvSpPr/>
            <p:nvPr/>
          </p:nvSpPr>
          <p:spPr>
            <a:xfrm>
              <a:off x="-514" y="9019181"/>
              <a:ext cx="4516755" cy="721995"/>
            </a:xfrm>
            <a:custGeom>
              <a:avLst/>
              <a:gdLst/>
              <a:ahLst/>
              <a:cxnLst/>
              <a:rect l="l" t="t" r="r" b="b"/>
              <a:pathLst>
                <a:path w="4516755" h="721995" extrusionOk="0">
                  <a:moveTo>
                    <a:pt x="4516274" y="0"/>
                  </a:moveTo>
                  <a:lnTo>
                    <a:pt x="0" y="0"/>
                  </a:lnTo>
                  <a:lnTo>
                    <a:pt x="0" y="721979"/>
                  </a:lnTo>
                  <a:lnTo>
                    <a:pt x="4516274" y="721979"/>
                  </a:lnTo>
                  <a:lnTo>
                    <a:pt x="4516274" y="0"/>
                  </a:lnTo>
                  <a:close/>
                </a:path>
              </a:pathLst>
            </a:custGeom>
            <a:solidFill>
              <a:srgbClr val="006EAD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65"/>
                <a:buFont typeface="Arial" panose="020B0604020202020204"/>
                <a:buNone/>
              </a:pPr>
              <a:endParaRPr sz="12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07293" y="1365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                                 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  <a:b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770279" y="1069398"/>
            <a:ext cx="8479825" cy="5278321"/>
          </a:xfrm>
        </p:spPr>
        <p:txBody>
          <a:bodyPr>
            <a:noAutofit/>
          </a:bodyPr>
          <a:lstStyle/>
          <a:p>
            <a:r>
              <a:rPr lang="en-IN" sz="1400" b="1" dirty="0"/>
              <a:t>INDEX</a:t>
            </a:r>
          </a:p>
          <a:p>
            <a:r>
              <a:rPr lang="en-IN" sz="1400" dirty="0"/>
              <a:t>Introduction </a:t>
            </a:r>
          </a:p>
          <a:p>
            <a:r>
              <a:rPr lang="en-IN" sz="1400" dirty="0"/>
              <a:t>Problem Statement </a:t>
            </a:r>
          </a:p>
          <a:p>
            <a:r>
              <a:rPr lang="en-IN" sz="1400" dirty="0"/>
              <a:t>Objectives </a:t>
            </a:r>
          </a:p>
          <a:p>
            <a:r>
              <a:rPr lang="en-IN" sz="1400" dirty="0"/>
              <a:t>Tools &amp; Technologies </a:t>
            </a:r>
          </a:p>
          <a:p>
            <a:r>
              <a:rPr lang="en-IN" sz="1400" dirty="0"/>
              <a:t>Project Modules </a:t>
            </a:r>
          </a:p>
          <a:p>
            <a:r>
              <a:rPr lang="en-IN" sz="1400" dirty="0"/>
              <a:t>Methodology </a:t>
            </a:r>
          </a:p>
          <a:p>
            <a:r>
              <a:rPr lang="en-IN" sz="1400" dirty="0"/>
              <a:t>Smart Form Implementation </a:t>
            </a:r>
          </a:p>
          <a:p>
            <a:r>
              <a:rPr lang="en-IN" sz="1400" dirty="0"/>
              <a:t>ALV Report with Excel Download </a:t>
            </a:r>
          </a:p>
          <a:p>
            <a:r>
              <a:rPr lang="en-IN" sz="1400" dirty="0"/>
              <a:t>Submit Report (ME2M) </a:t>
            </a:r>
          </a:p>
          <a:p>
            <a:r>
              <a:rPr lang="en-IN" sz="1400" dirty="0"/>
              <a:t>Results </a:t>
            </a:r>
          </a:p>
          <a:p>
            <a:r>
              <a:rPr lang="en-IN" sz="1400" dirty="0"/>
              <a:t>Industry Relevance </a:t>
            </a:r>
          </a:p>
          <a:p>
            <a:r>
              <a:rPr lang="en-IN" sz="1400" dirty="0"/>
              <a:t>Learning Outcomes </a:t>
            </a:r>
          </a:p>
          <a:p>
            <a:r>
              <a:rPr lang="en-IN" sz="1400" dirty="0"/>
              <a:t>Conclusion </a:t>
            </a:r>
          </a:p>
          <a:p>
            <a:r>
              <a:rPr lang="en-IN" sz="1400" dirty="0"/>
              <a:t>Future Scope </a:t>
            </a:r>
          </a:p>
          <a:p>
            <a:pPr>
              <a:lnSpc>
                <a:spcPct val="150000"/>
              </a:lnSpc>
            </a:pPr>
            <a:endParaRPr lang="en-IN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0" name="Google Shape;100;p1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28550" rIns="0" bIns="0" anchor="t" anchorCtr="0">
            <a:spAutoFit/>
          </a:bodyPr>
          <a:lstStyle/>
          <a:p>
            <a:pPr marR="0" indent="0" algn="ctr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6197600" algn="l"/>
              </a:tabLst>
            </a:pPr>
            <a:r>
              <a:rPr lang="en-US" altLang="en-US" sz="2000" dirty="0">
                <a:solidFill>
                  <a:schemeClr val="tx1"/>
                </a:solidFill>
                <a:ea typeface="Calibri" panose="020F0502020204030204" pitchFamily="34" charset="0"/>
                <a:cs typeface="+mn-lt"/>
                <a:sym typeface="+mn-ea"/>
              </a:rPr>
              <a:t>SURE Trust </a:t>
            </a:r>
            <a:endParaRPr sz="2000" i="0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1" name="Google Shape;101;p1"/>
          <p:cNvSpPr/>
          <p:nvPr/>
        </p:nvSpPr>
        <p:spPr>
          <a:xfrm>
            <a:off x="0" y="961757"/>
            <a:ext cx="12192000" cy="45719"/>
          </a:xfrm>
          <a:prstGeom prst="rect">
            <a:avLst/>
          </a:prstGeom>
          <a:solidFill>
            <a:srgbClr val="002060"/>
          </a:solidFill>
          <a:ln w="12700" cap="flat" cmpd="sng">
            <a:solidFill>
              <a:srgbClr val="00B0F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2" name="Google Shape;102;p1"/>
          <p:cNvSpPr txBox="1"/>
          <p:nvPr/>
        </p:nvSpPr>
        <p:spPr>
          <a:xfrm>
            <a:off x="770279" y="6423025"/>
            <a:ext cx="135808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IN" sz="1800" b="0" i="0" u="none" strike="noStrike" cap="none" dirty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SAP ABAP</a:t>
            </a:r>
            <a:endParaRPr sz="1800" b="0" i="0" u="none" strike="noStrike" cap="none" dirty="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2" name="Picture 2" descr="SURE TRUST | LinkedIn">
            <a:extLst>
              <a:ext uri="{FF2B5EF4-FFF2-40B4-BE49-F238E27FC236}">
                <a16:creationId xmlns:a16="http://schemas.microsoft.com/office/drawing/2014/main" id="{DF531289-F69D-0C8A-7259-0F467CAC7E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25000" y="109708"/>
            <a:ext cx="780465" cy="7804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>
          <a:extLst>
            <a:ext uri="{FF2B5EF4-FFF2-40B4-BE49-F238E27FC236}">
              <a16:creationId xmlns:a16="http://schemas.microsoft.com/office/drawing/2014/main" id="{6B32FF9D-F959-F71C-25FE-7BEBC5D301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" name="Google Shape;94;p1">
            <a:extLst>
              <a:ext uri="{FF2B5EF4-FFF2-40B4-BE49-F238E27FC236}">
                <a16:creationId xmlns:a16="http://schemas.microsoft.com/office/drawing/2014/main" id="{E925BBEF-D3C5-3285-FA2E-3A2192EDBC38}"/>
              </a:ext>
            </a:extLst>
          </p:cNvPr>
          <p:cNvGrpSpPr/>
          <p:nvPr/>
        </p:nvGrpSpPr>
        <p:grpSpPr>
          <a:xfrm>
            <a:off x="0" y="6350596"/>
            <a:ext cx="12192188" cy="507405"/>
            <a:chOff x="-514" y="9019181"/>
            <a:chExt cx="17348468" cy="721995"/>
          </a:xfrm>
        </p:grpSpPr>
        <p:sp>
          <p:nvSpPr>
            <p:cNvPr id="96" name="Google Shape;96;p1">
              <a:extLst>
                <a:ext uri="{FF2B5EF4-FFF2-40B4-BE49-F238E27FC236}">
                  <a16:creationId xmlns:a16="http://schemas.microsoft.com/office/drawing/2014/main" id="{D9E5B34F-CC71-FAA9-2565-8F70070BC2B3}"/>
                </a:ext>
              </a:extLst>
            </p:cNvPr>
            <p:cNvSpPr/>
            <p:nvPr/>
          </p:nvSpPr>
          <p:spPr>
            <a:xfrm>
              <a:off x="5293059" y="9019181"/>
              <a:ext cx="1647825" cy="721995"/>
            </a:xfrm>
            <a:custGeom>
              <a:avLst/>
              <a:gdLst/>
              <a:ahLst/>
              <a:cxnLst/>
              <a:rect l="l" t="t" r="r" b="b"/>
              <a:pathLst>
                <a:path w="1647825" h="721995" extrusionOk="0">
                  <a:moveTo>
                    <a:pt x="1647578" y="0"/>
                  </a:moveTo>
                  <a:lnTo>
                    <a:pt x="357644" y="0"/>
                  </a:lnTo>
                  <a:lnTo>
                    <a:pt x="0" y="721979"/>
                  </a:lnTo>
                  <a:lnTo>
                    <a:pt x="1289933" y="721979"/>
                  </a:lnTo>
                  <a:lnTo>
                    <a:pt x="1647578" y="0"/>
                  </a:lnTo>
                  <a:close/>
                </a:path>
              </a:pathLst>
            </a:custGeom>
            <a:solidFill>
              <a:srgbClr val="FFF4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65"/>
                <a:buFont typeface="Arial" panose="020B0604020202020204"/>
                <a:buNone/>
              </a:pPr>
              <a:endParaRPr sz="12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7" name="Google Shape;97;p1">
              <a:extLst>
                <a:ext uri="{FF2B5EF4-FFF2-40B4-BE49-F238E27FC236}">
                  <a16:creationId xmlns:a16="http://schemas.microsoft.com/office/drawing/2014/main" id="{04DCB8FC-DE67-23C9-01BC-9CE5C0057090}"/>
                </a:ext>
              </a:extLst>
            </p:cNvPr>
            <p:cNvSpPr/>
            <p:nvPr/>
          </p:nvSpPr>
          <p:spPr>
            <a:xfrm>
              <a:off x="3260091" y="9019181"/>
              <a:ext cx="1647825" cy="721995"/>
            </a:xfrm>
            <a:custGeom>
              <a:avLst/>
              <a:gdLst/>
              <a:ahLst/>
              <a:cxnLst/>
              <a:rect l="l" t="t" r="r" b="b"/>
              <a:pathLst>
                <a:path w="1647825" h="721995" extrusionOk="0">
                  <a:moveTo>
                    <a:pt x="1647579" y="0"/>
                  </a:moveTo>
                  <a:lnTo>
                    <a:pt x="357645" y="0"/>
                  </a:lnTo>
                  <a:lnTo>
                    <a:pt x="0" y="721979"/>
                  </a:lnTo>
                  <a:lnTo>
                    <a:pt x="1289933" y="721979"/>
                  </a:lnTo>
                  <a:lnTo>
                    <a:pt x="1647579" y="0"/>
                  </a:lnTo>
                  <a:close/>
                </a:path>
              </a:pathLst>
            </a:custGeom>
            <a:solidFill>
              <a:srgbClr val="006EAD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65"/>
                <a:buFont typeface="Arial" panose="020B0604020202020204"/>
                <a:buNone/>
              </a:pPr>
              <a:endParaRPr sz="12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8" name="Google Shape;98;p1">
              <a:extLst>
                <a:ext uri="{FF2B5EF4-FFF2-40B4-BE49-F238E27FC236}">
                  <a16:creationId xmlns:a16="http://schemas.microsoft.com/office/drawing/2014/main" id="{72F21793-EFDB-C062-EFC2-FA4B8526B52B}"/>
                </a:ext>
              </a:extLst>
            </p:cNvPr>
            <p:cNvSpPr/>
            <p:nvPr/>
          </p:nvSpPr>
          <p:spPr>
            <a:xfrm>
              <a:off x="5757299" y="9019181"/>
              <a:ext cx="11590655" cy="721995"/>
            </a:xfrm>
            <a:custGeom>
              <a:avLst/>
              <a:gdLst/>
              <a:ahLst/>
              <a:cxnLst/>
              <a:rect l="l" t="t" r="r" b="b"/>
              <a:pathLst>
                <a:path w="11590655" h="721995" extrusionOk="0">
                  <a:moveTo>
                    <a:pt x="11590369" y="0"/>
                  </a:moveTo>
                  <a:lnTo>
                    <a:pt x="0" y="0"/>
                  </a:lnTo>
                  <a:lnTo>
                    <a:pt x="0" y="721979"/>
                  </a:lnTo>
                  <a:lnTo>
                    <a:pt x="11590369" y="721979"/>
                  </a:lnTo>
                  <a:lnTo>
                    <a:pt x="11590369" y="0"/>
                  </a:lnTo>
                  <a:close/>
                </a:path>
              </a:pathLst>
            </a:custGeom>
            <a:solidFill>
              <a:srgbClr val="FFF4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65"/>
                <a:buFont typeface="Arial" panose="020B0604020202020204"/>
                <a:buNone/>
              </a:pPr>
              <a:endParaRPr sz="12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9" name="Google Shape;99;p1">
              <a:extLst>
                <a:ext uri="{FF2B5EF4-FFF2-40B4-BE49-F238E27FC236}">
                  <a16:creationId xmlns:a16="http://schemas.microsoft.com/office/drawing/2014/main" id="{B8CF71EA-4FA1-FDC5-865F-3FF3E1717AF9}"/>
                </a:ext>
              </a:extLst>
            </p:cNvPr>
            <p:cNvSpPr/>
            <p:nvPr/>
          </p:nvSpPr>
          <p:spPr>
            <a:xfrm>
              <a:off x="-514" y="9019181"/>
              <a:ext cx="4516755" cy="721995"/>
            </a:xfrm>
            <a:custGeom>
              <a:avLst/>
              <a:gdLst/>
              <a:ahLst/>
              <a:cxnLst/>
              <a:rect l="l" t="t" r="r" b="b"/>
              <a:pathLst>
                <a:path w="4516755" h="721995" extrusionOk="0">
                  <a:moveTo>
                    <a:pt x="4516274" y="0"/>
                  </a:moveTo>
                  <a:lnTo>
                    <a:pt x="0" y="0"/>
                  </a:lnTo>
                  <a:lnTo>
                    <a:pt x="0" y="721979"/>
                  </a:lnTo>
                  <a:lnTo>
                    <a:pt x="4516274" y="721979"/>
                  </a:lnTo>
                  <a:lnTo>
                    <a:pt x="4516274" y="0"/>
                  </a:lnTo>
                  <a:close/>
                </a:path>
              </a:pathLst>
            </a:custGeom>
            <a:solidFill>
              <a:srgbClr val="006EAD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65"/>
                <a:buFont typeface="Arial" panose="020B0604020202020204"/>
                <a:buNone/>
              </a:pPr>
              <a:endParaRPr sz="12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101" name="Google Shape;101;p1">
            <a:extLst>
              <a:ext uri="{FF2B5EF4-FFF2-40B4-BE49-F238E27FC236}">
                <a16:creationId xmlns:a16="http://schemas.microsoft.com/office/drawing/2014/main" id="{51150380-7398-219C-135B-310F10B99B21}"/>
              </a:ext>
            </a:extLst>
          </p:cNvPr>
          <p:cNvSpPr/>
          <p:nvPr/>
        </p:nvSpPr>
        <p:spPr>
          <a:xfrm>
            <a:off x="0" y="984615"/>
            <a:ext cx="12192000" cy="45719"/>
          </a:xfrm>
          <a:prstGeom prst="rect">
            <a:avLst/>
          </a:prstGeom>
          <a:solidFill>
            <a:srgbClr val="002060"/>
          </a:solidFill>
          <a:ln w="12700" cap="flat" cmpd="sng">
            <a:solidFill>
              <a:srgbClr val="00B0F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2" name="Picture 2" descr="SURE TRUST | LinkedIn">
            <a:extLst>
              <a:ext uri="{FF2B5EF4-FFF2-40B4-BE49-F238E27FC236}">
                <a16:creationId xmlns:a16="http://schemas.microsoft.com/office/drawing/2014/main" id="{C2DB2B7D-A1BA-DE5F-39D0-A447DC772F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25000" y="109708"/>
            <a:ext cx="780465" cy="7804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Google Shape;102;p1">
            <a:extLst>
              <a:ext uri="{FF2B5EF4-FFF2-40B4-BE49-F238E27FC236}">
                <a16:creationId xmlns:a16="http://schemas.microsoft.com/office/drawing/2014/main" id="{6FF48F8A-4F71-A6BF-1421-7EC9AEE06FE8}"/>
              </a:ext>
            </a:extLst>
          </p:cNvPr>
          <p:cNvSpPr txBox="1"/>
          <p:nvPr/>
        </p:nvSpPr>
        <p:spPr>
          <a:xfrm>
            <a:off x="770279" y="6423025"/>
            <a:ext cx="135808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IN" sz="1800" b="0" i="0" u="none" strike="noStrike" cap="none" dirty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SAP ABAP</a:t>
            </a:r>
            <a:endParaRPr sz="1800" b="0" i="0" u="none" strike="noStrike" cap="none" dirty="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" name="Google Shape;100;p1">
            <a:extLst>
              <a:ext uri="{FF2B5EF4-FFF2-40B4-BE49-F238E27FC236}">
                <a16:creationId xmlns:a16="http://schemas.microsoft.com/office/drawing/2014/main" id="{637F29A0-AF90-B300-C1CB-151F8A60160D}"/>
              </a:ext>
            </a:extLst>
          </p:cNvPr>
          <p:cNvSpPr txBox="1">
            <a:spLocks noGrp="1"/>
          </p:cNvSpPr>
          <p:nvPr>
            <p:ph type="ftr" sz="quarter" idx="11"/>
          </p:nvPr>
        </p:nvSpPr>
        <p:spPr>
          <a:xfrm>
            <a:off x="4038600" y="6423025"/>
            <a:ext cx="7172390" cy="335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8550" rIns="0" bIns="0" anchor="t" anchorCtr="0">
            <a:spAutoFit/>
          </a:bodyPr>
          <a:lstStyle/>
          <a:p>
            <a:pPr marR="0" indent="0" algn="ctr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6197600" algn="l"/>
              </a:tabLst>
            </a:pPr>
            <a:r>
              <a:rPr lang="en-US" altLang="en-US" sz="2000" dirty="0">
                <a:solidFill>
                  <a:schemeClr val="tx1"/>
                </a:solidFill>
                <a:ea typeface="Calibri" panose="020F0502020204030204" pitchFamily="34" charset="0"/>
                <a:cs typeface="+mn-lt"/>
                <a:sym typeface="+mn-ea"/>
              </a:rPr>
              <a:t>SURE Trust </a:t>
            </a:r>
            <a:endParaRPr sz="2000" i="0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AFF7686-5870-B646-A278-B49BFF35A0C7}"/>
              </a:ext>
            </a:extLst>
          </p:cNvPr>
          <p:cNvSpPr/>
          <p:nvPr/>
        </p:nvSpPr>
        <p:spPr>
          <a:xfrm>
            <a:off x="4291780" y="-105844"/>
            <a:ext cx="3527056" cy="106760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4800" b="1" dirty="0">
                <a:solidFill>
                  <a:srgbClr val="2F559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CDA92755-D455-E6A6-98C1-09A9C1FF126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46714" y="1053193"/>
            <a:ext cx="10855857" cy="39480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SAP plays a key role in enterprise data management and reporting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Materials Management (MM) module handles procurement and material data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Traditional reporting methods are manual and inefficient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project focuses on automated reporting using SAP ABAP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Technologies used: ALV Reports, Smart Forms, and Submit Reports </a:t>
            </a:r>
          </a:p>
        </p:txBody>
      </p:sp>
    </p:spTree>
    <p:extLst>
      <p:ext uri="{BB962C8B-B14F-4D97-AF65-F5344CB8AC3E}">
        <p14:creationId xmlns:p14="http://schemas.microsoft.com/office/powerpoint/2010/main" val="1870406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>
          <a:extLst>
            <a:ext uri="{FF2B5EF4-FFF2-40B4-BE49-F238E27FC236}">
              <a16:creationId xmlns:a16="http://schemas.microsoft.com/office/drawing/2014/main" id="{8CFD7D80-7E86-62D0-DFFC-483FC841DF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" name="Google Shape;94;p1">
            <a:extLst>
              <a:ext uri="{FF2B5EF4-FFF2-40B4-BE49-F238E27FC236}">
                <a16:creationId xmlns:a16="http://schemas.microsoft.com/office/drawing/2014/main" id="{01682E92-D735-BFDF-7D15-BAB2697513DB}"/>
              </a:ext>
            </a:extLst>
          </p:cNvPr>
          <p:cNvGrpSpPr/>
          <p:nvPr/>
        </p:nvGrpSpPr>
        <p:grpSpPr>
          <a:xfrm>
            <a:off x="0" y="6350596"/>
            <a:ext cx="12192188" cy="507405"/>
            <a:chOff x="-514" y="9019181"/>
            <a:chExt cx="17348468" cy="721995"/>
          </a:xfrm>
        </p:grpSpPr>
        <p:sp>
          <p:nvSpPr>
            <p:cNvPr id="96" name="Google Shape;96;p1">
              <a:extLst>
                <a:ext uri="{FF2B5EF4-FFF2-40B4-BE49-F238E27FC236}">
                  <a16:creationId xmlns:a16="http://schemas.microsoft.com/office/drawing/2014/main" id="{6C9F5DB3-502C-5A09-5D67-D054A6B23D59}"/>
                </a:ext>
              </a:extLst>
            </p:cNvPr>
            <p:cNvSpPr/>
            <p:nvPr/>
          </p:nvSpPr>
          <p:spPr>
            <a:xfrm>
              <a:off x="5293059" y="9019181"/>
              <a:ext cx="1647825" cy="721995"/>
            </a:xfrm>
            <a:custGeom>
              <a:avLst/>
              <a:gdLst/>
              <a:ahLst/>
              <a:cxnLst/>
              <a:rect l="l" t="t" r="r" b="b"/>
              <a:pathLst>
                <a:path w="1647825" h="721995" extrusionOk="0">
                  <a:moveTo>
                    <a:pt x="1647578" y="0"/>
                  </a:moveTo>
                  <a:lnTo>
                    <a:pt x="357644" y="0"/>
                  </a:lnTo>
                  <a:lnTo>
                    <a:pt x="0" y="721979"/>
                  </a:lnTo>
                  <a:lnTo>
                    <a:pt x="1289933" y="721979"/>
                  </a:lnTo>
                  <a:lnTo>
                    <a:pt x="1647578" y="0"/>
                  </a:lnTo>
                  <a:close/>
                </a:path>
              </a:pathLst>
            </a:custGeom>
            <a:solidFill>
              <a:srgbClr val="FFF4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65"/>
                <a:buFont typeface="Arial" panose="020B0604020202020204"/>
                <a:buNone/>
              </a:pPr>
              <a:endParaRPr sz="12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7" name="Google Shape;97;p1">
              <a:extLst>
                <a:ext uri="{FF2B5EF4-FFF2-40B4-BE49-F238E27FC236}">
                  <a16:creationId xmlns:a16="http://schemas.microsoft.com/office/drawing/2014/main" id="{81FE0C49-9A3A-A3B6-7C0E-7D7AC6A595AC}"/>
                </a:ext>
              </a:extLst>
            </p:cNvPr>
            <p:cNvSpPr/>
            <p:nvPr/>
          </p:nvSpPr>
          <p:spPr>
            <a:xfrm>
              <a:off x="3260091" y="9019181"/>
              <a:ext cx="1647825" cy="721995"/>
            </a:xfrm>
            <a:custGeom>
              <a:avLst/>
              <a:gdLst/>
              <a:ahLst/>
              <a:cxnLst/>
              <a:rect l="l" t="t" r="r" b="b"/>
              <a:pathLst>
                <a:path w="1647825" h="721995" extrusionOk="0">
                  <a:moveTo>
                    <a:pt x="1647579" y="0"/>
                  </a:moveTo>
                  <a:lnTo>
                    <a:pt x="357645" y="0"/>
                  </a:lnTo>
                  <a:lnTo>
                    <a:pt x="0" y="721979"/>
                  </a:lnTo>
                  <a:lnTo>
                    <a:pt x="1289933" y="721979"/>
                  </a:lnTo>
                  <a:lnTo>
                    <a:pt x="1647579" y="0"/>
                  </a:lnTo>
                  <a:close/>
                </a:path>
              </a:pathLst>
            </a:custGeom>
            <a:solidFill>
              <a:srgbClr val="006EAD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65"/>
                <a:buFont typeface="Arial" panose="020B0604020202020204"/>
                <a:buNone/>
              </a:pPr>
              <a:endParaRPr sz="12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8" name="Google Shape;98;p1">
              <a:extLst>
                <a:ext uri="{FF2B5EF4-FFF2-40B4-BE49-F238E27FC236}">
                  <a16:creationId xmlns:a16="http://schemas.microsoft.com/office/drawing/2014/main" id="{1C62EF9E-A635-1AE9-78E5-FD9B8B44085F}"/>
                </a:ext>
              </a:extLst>
            </p:cNvPr>
            <p:cNvSpPr/>
            <p:nvPr/>
          </p:nvSpPr>
          <p:spPr>
            <a:xfrm>
              <a:off x="5757299" y="9019181"/>
              <a:ext cx="11590655" cy="721995"/>
            </a:xfrm>
            <a:custGeom>
              <a:avLst/>
              <a:gdLst/>
              <a:ahLst/>
              <a:cxnLst/>
              <a:rect l="l" t="t" r="r" b="b"/>
              <a:pathLst>
                <a:path w="11590655" h="721995" extrusionOk="0">
                  <a:moveTo>
                    <a:pt x="11590369" y="0"/>
                  </a:moveTo>
                  <a:lnTo>
                    <a:pt x="0" y="0"/>
                  </a:lnTo>
                  <a:lnTo>
                    <a:pt x="0" y="721979"/>
                  </a:lnTo>
                  <a:lnTo>
                    <a:pt x="11590369" y="721979"/>
                  </a:lnTo>
                  <a:lnTo>
                    <a:pt x="11590369" y="0"/>
                  </a:lnTo>
                  <a:close/>
                </a:path>
              </a:pathLst>
            </a:custGeom>
            <a:solidFill>
              <a:srgbClr val="FFF4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65"/>
                <a:buFont typeface="Arial" panose="020B0604020202020204"/>
                <a:buNone/>
              </a:pPr>
              <a:endParaRPr sz="12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9" name="Google Shape;99;p1">
              <a:extLst>
                <a:ext uri="{FF2B5EF4-FFF2-40B4-BE49-F238E27FC236}">
                  <a16:creationId xmlns:a16="http://schemas.microsoft.com/office/drawing/2014/main" id="{89D6A3B2-C446-E2DB-C09A-15FEC371B0A8}"/>
                </a:ext>
              </a:extLst>
            </p:cNvPr>
            <p:cNvSpPr/>
            <p:nvPr/>
          </p:nvSpPr>
          <p:spPr>
            <a:xfrm>
              <a:off x="-514" y="9019181"/>
              <a:ext cx="4516755" cy="721995"/>
            </a:xfrm>
            <a:custGeom>
              <a:avLst/>
              <a:gdLst/>
              <a:ahLst/>
              <a:cxnLst/>
              <a:rect l="l" t="t" r="r" b="b"/>
              <a:pathLst>
                <a:path w="4516755" h="721995" extrusionOk="0">
                  <a:moveTo>
                    <a:pt x="4516274" y="0"/>
                  </a:moveTo>
                  <a:lnTo>
                    <a:pt x="0" y="0"/>
                  </a:lnTo>
                  <a:lnTo>
                    <a:pt x="0" y="721979"/>
                  </a:lnTo>
                  <a:lnTo>
                    <a:pt x="4516274" y="721979"/>
                  </a:lnTo>
                  <a:lnTo>
                    <a:pt x="4516274" y="0"/>
                  </a:lnTo>
                  <a:close/>
                </a:path>
              </a:pathLst>
            </a:custGeom>
            <a:solidFill>
              <a:srgbClr val="006EAD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65"/>
                <a:buFont typeface="Arial" panose="020B0604020202020204"/>
                <a:buNone/>
              </a:pPr>
              <a:endParaRPr sz="12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101" name="Google Shape;101;p1">
            <a:extLst>
              <a:ext uri="{FF2B5EF4-FFF2-40B4-BE49-F238E27FC236}">
                <a16:creationId xmlns:a16="http://schemas.microsoft.com/office/drawing/2014/main" id="{CA3A669A-3045-E065-7B1D-21A0095D0F03}"/>
              </a:ext>
            </a:extLst>
          </p:cNvPr>
          <p:cNvSpPr/>
          <p:nvPr/>
        </p:nvSpPr>
        <p:spPr>
          <a:xfrm>
            <a:off x="0" y="984615"/>
            <a:ext cx="12192000" cy="45719"/>
          </a:xfrm>
          <a:prstGeom prst="rect">
            <a:avLst/>
          </a:prstGeom>
          <a:solidFill>
            <a:srgbClr val="002060"/>
          </a:solidFill>
          <a:ln w="12700" cap="flat" cmpd="sng">
            <a:solidFill>
              <a:srgbClr val="00B0F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2" name="Picture 2" descr="SURE TRUST | LinkedIn">
            <a:extLst>
              <a:ext uri="{FF2B5EF4-FFF2-40B4-BE49-F238E27FC236}">
                <a16:creationId xmlns:a16="http://schemas.microsoft.com/office/drawing/2014/main" id="{CE79D876-0505-2A2F-EAFD-DBB370F945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25000" y="109708"/>
            <a:ext cx="780465" cy="7804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Google Shape;102;p1">
            <a:extLst>
              <a:ext uri="{FF2B5EF4-FFF2-40B4-BE49-F238E27FC236}">
                <a16:creationId xmlns:a16="http://schemas.microsoft.com/office/drawing/2014/main" id="{8AC988E6-AB4D-E3DF-5CB0-5BEAEE5AE79D}"/>
              </a:ext>
            </a:extLst>
          </p:cNvPr>
          <p:cNvSpPr txBox="1"/>
          <p:nvPr/>
        </p:nvSpPr>
        <p:spPr>
          <a:xfrm>
            <a:off x="770279" y="6423025"/>
            <a:ext cx="135808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IN" sz="1800" b="0" i="0" u="none" strike="noStrike" cap="none" dirty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SAP ABAP</a:t>
            </a:r>
            <a:endParaRPr sz="1800" b="0" i="0" u="none" strike="noStrike" cap="none" dirty="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" name="Google Shape;100;p1">
            <a:extLst>
              <a:ext uri="{FF2B5EF4-FFF2-40B4-BE49-F238E27FC236}">
                <a16:creationId xmlns:a16="http://schemas.microsoft.com/office/drawing/2014/main" id="{CDCEC937-54E8-253B-6F55-DF51D42589E8}"/>
              </a:ext>
            </a:extLst>
          </p:cNvPr>
          <p:cNvSpPr txBox="1">
            <a:spLocks noGrp="1"/>
          </p:cNvSpPr>
          <p:nvPr>
            <p:ph type="ftr" sz="quarter" idx="11"/>
          </p:nvPr>
        </p:nvSpPr>
        <p:spPr>
          <a:xfrm>
            <a:off x="4038600" y="6423025"/>
            <a:ext cx="7172390" cy="335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8550" rIns="0" bIns="0" anchor="t" anchorCtr="0">
            <a:spAutoFit/>
          </a:bodyPr>
          <a:lstStyle/>
          <a:p>
            <a:pPr marR="0" indent="0" algn="ctr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6197600" algn="l"/>
              </a:tabLst>
            </a:pPr>
            <a:r>
              <a:rPr lang="en-US" altLang="en-US" sz="2000" dirty="0">
                <a:solidFill>
                  <a:schemeClr val="tx1"/>
                </a:solidFill>
                <a:ea typeface="Calibri" panose="020F0502020204030204" pitchFamily="34" charset="0"/>
                <a:cs typeface="+mn-lt"/>
                <a:sym typeface="+mn-ea"/>
              </a:rPr>
              <a:t>SURE Trust </a:t>
            </a:r>
            <a:endParaRPr sz="2000" i="0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01EAD89-8B86-5C82-77E0-CE83D21B3921}"/>
              </a:ext>
            </a:extLst>
          </p:cNvPr>
          <p:cNvSpPr/>
          <p:nvPr/>
        </p:nvSpPr>
        <p:spPr>
          <a:xfrm>
            <a:off x="3470056" y="-142058"/>
            <a:ext cx="5251887" cy="106760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4800" b="1" dirty="0">
                <a:solidFill>
                  <a:srgbClr val="2F559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F77607EC-5240-EA4F-6FBD-5AF4BDFA135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75235" y="925542"/>
            <a:ext cx="9464450" cy="39480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Manual data extraction leads to errors and delays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Limited reporting flexibility in standard SAP reports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Poor data presentation and formatting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easy way to export data for analysis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Need for automated, structured, and user-friendly reporting system </a:t>
            </a:r>
          </a:p>
        </p:txBody>
      </p:sp>
    </p:spTree>
    <p:extLst>
      <p:ext uri="{BB962C8B-B14F-4D97-AF65-F5344CB8AC3E}">
        <p14:creationId xmlns:p14="http://schemas.microsoft.com/office/powerpoint/2010/main" val="20728686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>
          <a:extLst>
            <a:ext uri="{FF2B5EF4-FFF2-40B4-BE49-F238E27FC236}">
              <a16:creationId xmlns:a16="http://schemas.microsoft.com/office/drawing/2014/main" id="{F246A32D-147D-9C53-69F4-DF4913986A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" name="Google Shape;94;p1">
            <a:extLst>
              <a:ext uri="{FF2B5EF4-FFF2-40B4-BE49-F238E27FC236}">
                <a16:creationId xmlns:a16="http://schemas.microsoft.com/office/drawing/2014/main" id="{4CC988EF-063F-09BB-0CDC-9E3029F7BD6D}"/>
              </a:ext>
            </a:extLst>
          </p:cNvPr>
          <p:cNvGrpSpPr/>
          <p:nvPr/>
        </p:nvGrpSpPr>
        <p:grpSpPr>
          <a:xfrm>
            <a:off x="0" y="6350596"/>
            <a:ext cx="12192188" cy="507405"/>
            <a:chOff x="-514" y="9019181"/>
            <a:chExt cx="17348468" cy="721995"/>
          </a:xfrm>
        </p:grpSpPr>
        <p:sp>
          <p:nvSpPr>
            <p:cNvPr id="96" name="Google Shape;96;p1">
              <a:extLst>
                <a:ext uri="{FF2B5EF4-FFF2-40B4-BE49-F238E27FC236}">
                  <a16:creationId xmlns:a16="http://schemas.microsoft.com/office/drawing/2014/main" id="{B01179AB-034D-495C-9A46-FF66239ED270}"/>
                </a:ext>
              </a:extLst>
            </p:cNvPr>
            <p:cNvSpPr/>
            <p:nvPr/>
          </p:nvSpPr>
          <p:spPr>
            <a:xfrm>
              <a:off x="5293059" y="9019181"/>
              <a:ext cx="1647825" cy="721995"/>
            </a:xfrm>
            <a:custGeom>
              <a:avLst/>
              <a:gdLst/>
              <a:ahLst/>
              <a:cxnLst/>
              <a:rect l="l" t="t" r="r" b="b"/>
              <a:pathLst>
                <a:path w="1647825" h="721995" extrusionOk="0">
                  <a:moveTo>
                    <a:pt x="1647578" y="0"/>
                  </a:moveTo>
                  <a:lnTo>
                    <a:pt x="357644" y="0"/>
                  </a:lnTo>
                  <a:lnTo>
                    <a:pt x="0" y="721979"/>
                  </a:lnTo>
                  <a:lnTo>
                    <a:pt x="1289933" y="721979"/>
                  </a:lnTo>
                  <a:lnTo>
                    <a:pt x="1647578" y="0"/>
                  </a:lnTo>
                  <a:close/>
                </a:path>
              </a:pathLst>
            </a:custGeom>
            <a:solidFill>
              <a:srgbClr val="FFF4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65"/>
                <a:buFont typeface="Arial" panose="020B0604020202020204"/>
                <a:buNone/>
              </a:pPr>
              <a:endParaRPr sz="12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7" name="Google Shape;97;p1">
              <a:extLst>
                <a:ext uri="{FF2B5EF4-FFF2-40B4-BE49-F238E27FC236}">
                  <a16:creationId xmlns:a16="http://schemas.microsoft.com/office/drawing/2014/main" id="{8F49A9E7-6605-8EAD-6D3D-15F66220BEB6}"/>
                </a:ext>
              </a:extLst>
            </p:cNvPr>
            <p:cNvSpPr/>
            <p:nvPr/>
          </p:nvSpPr>
          <p:spPr>
            <a:xfrm>
              <a:off x="3260091" y="9019181"/>
              <a:ext cx="1647825" cy="721995"/>
            </a:xfrm>
            <a:custGeom>
              <a:avLst/>
              <a:gdLst/>
              <a:ahLst/>
              <a:cxnLst/>
              <a:rect l="l" t="t" r="r" b="b"/>
              <a:pathLst>
                <a:path w="1647825" h="721995" extrusionOk="0">
                  <a:moveTo>
                    <a:pt x="1647579" y="0"/>
                  </a:moveTo>
                  <a:lnTo>
                    <a:pt x="357645" y="0"/>
                  </a:lnTo>
                  <a:lnTo>
                    <a:pt x="0" y="721979"/>
                  </a:lnTo>
                  <a:lnTo>
                    <a:pt x="1289933" y="721979"/>
                  </a:lnTo>
                  <a:lnTo>
                    <a:pt x="1647579" y="0"/>
                  </a:lnTo>
                  <a:close/>
                </a:path>
              </a:pathLst>
            </a:custGeom>
            <a:solidFill>
              <a:srgbClr val="006EAD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65"/>
                <a:buFont typeface="Arial" panose="020B0604020202020204"/>
                <a:buNone/>
              </a:pPr>
              <a:endParaRPr sz="12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8" name="Google Shape;98;p1">
              <a:extLst>
                <a:ext uri="{FF2B5EF4-FFF2-40B4-BE49-F238E27FC236}">
                  <a16:creationId xmlns:a16="http://schemas.microsoft.com/office/drawing/2014/main" id="{4A9D1D7D-A001-CF4F-4802-17EF750AC9CD}"/>
                </a:ext>
              </a:extLst>
            </p:cNvPr>
            <p:cNvSpPr/>
            <p:nvPr/>
          </p:nvSpPr>
          <p:spPr>
            <a:xfrm>
              <a:off x="5757299" y="9019181"/>
              <a:ext cx="11590655" cy="721995"/>
            </a:xfrm>
            <a:custGeom>
              <a:avLst/>
              <a:gdLst/>
              <a:ahLst/>
              <a:cxnLst/>
              <a:rect l="l" t="t" r="r" b="b"/>
              <a:pathLst>
                <a:path w="11590655" h="721995" extrusionOk="0">
                  <a:moveTo>
                    <a:pt x="11590369" y="0"/>
                  </a:moveTo>
                  <a:lnTo>
                    <a:pt x="0" y="0"/>
                  </a:lnTo>
                  <a:lnTo>
                    <a:pt x="0" y="721979"/>
                  </a:lnTo>
                  <a:lnTo>
                    <a:pt x="11590369" y="721979"/>
                  </a:lnTo>
                  <a:lnTo>
                    <a:pt x="11590369" y="0"/>
                  </a:lnTo>
                  <a:close/>
                </a:path>
              </a:pathLst>
            </a:custGeom>
            <a:solidFill>
              <a:srgbClr val="FFF4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65"/>
                <a:buFont typeface="Arial" panose="020B0604020202020204"/>
                <a:buNone/>
              </a:pPr>
              <a:endParaRPr sz="12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9" name="Google Shape;99;p1">
              <a:extLst>
                <a:ext uri="{FF2B5EF4-FFF2-40B4-BE49-F238E27FC236}">
                  <a16:creationId xmlns:a16="http://schemas.microsoft.com/office/drawing/2014/main" id="{5EC9BF49-2E70-D2C8-A2B1-FB6C629459CB}"/>
                </a:ext>
              </a:extLst>
            </p:cNvPr>
            <p:cNvSpPr/>
            <p:nvPr/>
          </p:nvSpPr>
          <p:spPr>
            <a:xfrm>
              <a:off x="-514" y="9019181"/>
              <a:ext cx="4516755" cy="721995"/>
            </a:xfrm>
            <a:custGeom>
              <a:avLst/>
              <a:gdLst/>
              <a:ahLst/>
              <a:cxnLst/>
              <a:rect l="l" t="t" r="r" b="b"/>
              <a:pathLst>
                <a:path w="4516755" h="721995" extrusionOk="0">
                  <a:moveTo>
                    <a:pt x="4516274" y="0"/>
                  </a:moveTo>
                  <a:lnTo>
                    <a:pt x="0" y="0"/>
                  </a:lnTo>
                  <a:lnTo>
                    <a:pt x="0" y="721979"/>
                  </a:lnTo>
                  <a:lnTo>
                    <a:pt x="4516274" y="721979"/>
                  </a:lnTo>
                  <a:lnTo>
                    <a:pt x="4516274" y="0"/>
                  </a:lnTo>
                  <a:close/>
                </a:path>
              </a:pathLst>
            </a:custGeom>
            <a:solidFill>
              <a:srgbClr val="006EAD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65"/>
                <a:buFont typeface="Arial" panose="020B0604020202020204"/>
                <a:buNone/>
              </a:pPr>
              <a:endParaRPr sz="12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101" name="Google Shape;101;p1">
            <a:extLst>
              <a:ext uri="{FF2B5EF4-FFF2-40B4-BE49-F238E27FC236}">
                <a16:creationId xmlns:a16="http://schemas.microsoft.com/office/drawing/2014/main" id="{212C8BE4-B8E6-5473-72A5-7D4A8540329E}"/>
              </a:ext>
            </a:extLst>
          </p:cNvPr>
          <p:cNvSpPr/>
          <p:nvPr/>
        </p:nvSpPr>
        <p:spPr>
          <a:xfrm>
            <a:off x="0" y="1019852"/>
            <a:ext cx="12192000" cy="45719"/>
          </a:xfrm>
          <a:prstGeom prst="rect">
            <a:avLst/>
          </a:prstGeom>
          <a:solidFill>
            <a:srgbClr val="002060"/>
          </a:solidFill>
          <a:ln w="12700" cap="flat" cmpd="sng">
            <a:solidFill>
              <a:srgbClr val="00B0F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2" name="Picture 2" descr="SURE TRUST | LinkedIn">
            <a:extLst>
              <a:ext uri="{FF2B5EF4-FFF2-40B4-BE49-F238E27FC236}">
                <a16:creationId xmlns:a16="http://schemas.microsoft.com/office/drawing/2014/main" id="{0BA51C7A-C85E-CEC1-0800-D6766087B5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25000" y="109708"/>
            <a:ext cx="780465" cy="7804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Google Shape;102;p1">
            <a:extLst>
              <a:ext uri="{FF2B5EF4-FFF2-40B4-BE49-F238E27FC236}">
                <a16:creationId xmlns:a16="http://schemas.microsoft.com/office/drawing/2014/main" id="{513AD037-5384-CABD-B720-7CC16A31288D}"/>
              </a:ext>
            </a:extLst>
          </p:cNvPr>
          <p:cNvSpPr txBox="1"/>
          <p:nvPr/>
        </p:nvSpPr>
        <p:spPr>
          <a:xfrm>
            <a:off x="770279" y="6423025"/>
            <a:ext cx="135808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IN" sz="1800" b="0" i="0" u="none" strike="noStrike" cap="none" dirty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SAP ABAP</a:t>
            </a:r>
            <a:endParaRPr sz="1800" b="0" i="0" u="none" strike="noStrike" cap="none" dirty="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" name="Google Shape;100;p1">
            <a:extLst>
              <a:ext uri="{FF2B5EF4-FFF2-40B4-BE49-F238E27FC236}">
                <a16:creationId xmlns:a16="http://schemas.microsoft.com/office/drawing/2014/main" id="{4A1CD68F-35C1-7B20-1082-4CE90EA92750}"/>
              </a:ext>
            </a:extLst>
          </p:cNvPr>
          <p:cNvSpPr txBox="1">
            <a:spLocks noGrp="1"/>
          </p:cNvSpPr>
          <p:nvPr>
            <p:ph type="ftr" sz="quarter" idx="11"/>
          </p:nvPr>
        </p:nvSpPr>
        <p:spPr>
          <a:xfrm>
            <a:off x="4038600" y="6423025"/>
            <a:ext cx="7172390" cy="335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8550" rIns="0" bIns="0" anchor="t" anchorCtr="0">
            <a:spAutoFit/>
          </a:bodyPr>
          <a:lstStyle/>
          <a:p>
            <a:pPr marR="0" indent="0" algn="ctr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6197600" algn="l"/>
              </a:tabLst>
            </a:pPr>
            <a:r>
              <a:rPr lang="en-US" altLang="en-US" sz="2000" dirty="0">
                <a:solidFill>
                  <a:schemeClr val="tx1"/>
                </a:solidFill>
                <a:ea typeface="Calibri" panose="020F0502020204030204" pitchFamily="34" charset="0"/>
                <a:cs typeface="+mn-lt"/>
                <a:sym typeface="+mn-ea"/>
              </a:rPr>
              <a:t>SURE Trust </a:t>
            </a:r>
            <a:endParaRPr sz="2000" i="0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24F4D61-A23B-BBA6-144B-0F8FB748D3A1}"/>
              </a:ext>
            </a:extLst>
          </p:cNvPr>
          <p:cNvSpPr/>
          <p:nvPr/>
        </p:nvSpPr>
        <p:spPr>
          <a:xfrm>
            <a:off x="4291780" y="-105844"/>
            <a:ext cx="2953053" cy="106760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4800" b="1" dirty="0">
                <a:solidFill>
                  <a:srgbClr val="2F559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58DB6C0B-38FC-7775-D16B-74A81DEEC12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39404" y="1019852"/>
            <a:ext cx="6332183" cy="39480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 user-friendly selection screens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Generate structured reports using ALV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Implement Excel download functionality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SUBMIT for modular programming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Design Smart Forms for professional output </a:t>
            </a:r>
          </a:p>
        </p:txBody>
      </p:sp>
    </p:spTree>
    <p:extLst>
      <p:ext uri="{BB962C8B-B14F-4D97-AF65-F5344CB8AC3E}">
        <p14:creationId xmlns:p14="http://schemas.microsoft.com/office/powerpoint/2010/main" val="28719401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>
          <a:extLst>
            <a:ext uri="{FF2B5EF4-FFF2-40B4-BE49-F238E27FC236}">
              <a16:creationId xmlns:a16="http://schemas.microsoft.com/office/drawing/2014/main" id="{3BE9AC67-9D79-553D-6B1F-7CFFD7BE16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" name="Google Shape;94;p1">
            <a:extLst>
              <a:ext uri="{FF2B5EF4-FFF2-40B4-BE49-F238E27FC236}">
                <a16:creationId xmlns:a16="http://schemas.microsoft.com/office/drawing/2014/main" id="{818D5B6C-877C-7524-25BE-6EF552FFDE7C}"/>
              </a:ext>
            </a:extLst>
          </p:cNvPr>
          <p:cNvGrpSpPr/>
          <p:nvPr/>
        </p:nvGrpSpPr>
        <p:grpSpPr>
          <a:xfrm>
            <a:off x="0" y="6350596"/>
            <a:ext cx="12192188" cy="507405"/>
            <a:chOff x="-514" y="9019181"/>
            <a:chExt cx="17348468" cy="721995"/>
          </a:xfrm>
        </p:grpSpPr>
        <p:sp>
          <p:nvSpPr>
            <p:cNvPr id="96" name="Google Shape;96;p1">
              <a:extLst>
                <a:ext uri="{FF2B5EF4-FFF2-40B4-BE49-F238E27FC236}">
                  <a16:creationId xmlns:a16="http://schemas.microsoft.com/office/drawing/2014/main" id="{24307FD5-EAAF-BD01-80F6-49E7D6784637}"/>
                </a:ext>
              </a:extLst>
            </p:cNvPr>
            <p:cNvSpPr/>
            <p:nvPr/>
          </p:nvSpPr>
          <p:spPr>
            <a:xfrm>
              <a:off x="5293059" y="9019181"/>
              <a:ext cx="1647825" cy="721995"/>
            </a:xfrm>
            <a:custGeom>
              <a:avLst/>
              <a:gdLst/>
              <a:ahLst/>
              <a:cxnLst/>
              <a:rect l="l" t="t" r="r" b="b"/>
              <a:pathLst>
                <a:path w="1647825" h="721995" extrusionOk="0">
                  <a:moveTo>
                    <a:pt x="1647578" y="0"/>
                  </a:moveTo>
                  <a:lnTo>
                    <a:pt x="357644" y="0"/>
                  </a:lnTo>
                  <a:lnTo>
                    <a:pt x="0" y="721979"/>
                  </a:lnTo>
                  <a:lnTo>
                    <a:pt x="1289933" y="721979"/>
                  </a:lnTo>
                  <a:lnTo>
                    <a:pt x="1647578" y="0"/>
                  </a:lnTo>
                  <a:close/>
                </a:path>
              </a:pathLst>
            </a:custGeom>
            <a:solidFill>
              <a:srgbClr val="FFF4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65"/>
                <a:buFont typeface="Arial" panose="020B0604020202020204"/>
                <a:buNone/>
              </a:pPr>
              <a:endParaRPr sz="12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7" name="Google Shape;97;p1">
              <a:extLst>
                <a:ext uri="{FF2B5EF4-FFF2-40B4-BE49-F238E27FC236}">
                  <a16:creationId xmlns:a16="http://schemas.microsoft.com/office/drawing/2014/main" id="{B9E8042F-28D1-CB90-10F8-FE6E300B020E}"/>
                </a:ext>
              </a:extLst>
            </p:cNvPr>
            <p:cNvSpPr/>
            <p:nvPr/>
          </p:nvSpPr>
          <p:spPr>
            <a:xfrm>
              <a:off x="3260091" y="9019181"/>
              <a:ext cx="1647825" cy="721995"/>
            </a:xfrm>
            <a:custGeom>
              <a:avLst/>
              <a:gdLst/>
              <a:ahLst/>
              <a:cxnLst/>
              <a:rect l="l" t="t" r="r" b="b"/>
              <a:pathLst>
                <a:path w="1647825" h="721995" extrusionOk="0">
                  <a:moveTo>
                    <a:pt x="1647579" y="0"/>
                  </a:moveTo>
                  <a:lnTo>
                    <a:pt x="357645" y="0"/>
                  </a:lnTo>
                  <a:lnTo>
                    <a:pt x="0" y="721979"/>
                  </a:lnTo>
                  <a:lnTo>
                    <a:pt x="1289933" y="721979"/>
                  </a:lnTo>
                  <a:lnTo>
                    <a:pt x="1647579" y="0"/>
                  </a:lnTo>
                  <a:close/>
                </a:path>
              </a:pathLst>
            </a:custGeom>
            <a:solidFill>
              <a:srgbClr val="006EAD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65"/>
                <a:buFont typeface="Arial" panose="020B0604020202020204"/>
                <a:buNone/>
              </a:pPr>
              <a:endParaRPr sz="12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8" name="Google Shape;98;p1">
              <a:extLst>
                <a:ext uri="{FF2B5EF4-FFF2-40B4-BE49-F238E27FC236}">
                  <a16:creationId xmlns:a16="http://schemas.microsoft.com/office/drawing/2014/main" id="{C34C1D4F-B3B3-26D7-ED6D-EC76E7EB24CA}"/>
                </a:ext>
              </a:extLst>
            </p:cNvPr>
            <p:cNvSpPr/>
            <p:nvPr/>
          </p:nvSpPr>
          <p:spPr>
            <a:xfrm>
              <a:off x="5757299" y="9019181"/>
              <a:ext cx="11590655" cy="721995"/>
            </a:xfrm>
            <a:custGeom>
              <a:avLst/>
              <a:gdLst/>
              <a:ahLst/>
              <a:cxnLst/>
              <a:rect l="l" t="t" r="r" b="b"/>
              <a:pathLst>
                <a:path w="11590655" h="721995" extrusionOk="0">
                  <a:moveTo>
                    <a:pt x="11590369" y="0"/>
                  </a:moveTo>
                  <a:lnTo>
                    <a:pt x="0" y="0"/>
                  </a:lnTo>
                  <a:lnTo>
                    <a:pt x="0" y="721979"/>
                  </a:lnTo>
                  <a:lnTo>
                    <a:pt x="11590369" y="721979"/>
                  </a:lnTo>
                  <a:lnTo>
                    <a:pt x="11590369" y="0"/>
                  </a:lnTo>
                  <a:close/>
                </a:path>
              </a:pathLst>
            </a:custGeom>
            <a:solidFill>
              <a:srgbClr val="FFF4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65"/>
                <a:buFont typeface="Arial" panose="020B0604020202020204"/>
                <a:buNone/>
              </a:pPr>
              <a:endParaRPr sz="12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9" name="Google Shape;99;p1">
              <a:extLst>
                <a:ext uri="{FF2B5EF4-FFF2-40B4-BE49-F238E27FC236}">
                  <a16:creationId xmlns:a16="http://schemas.microsoft.com/office/drawing/2014/main" id="{CDF92277-9048-2E8D-6CF8-BFB52C8DD4DA}"/>
                </a:ext>
              </a:extLst>
            </p:cNvPr>
            <p:cNvSpPr/>
            <p:nvPr/>
          </p:nvSpPr>
          <p:spPr>
            <a:xfrm>
              <a:off x="-514" y="9019181"/>
              <a:ext cx="4516755" cy="721995"/>
            </a:xfrm>
            <a:custGeom>
              <a:avLst/>
              <a:gdLst/>
              <a:ahLst/>
              <a:cxnLst/>
              <a:rect l="l" t="t" r="r" b="b"/>
              <a:pathLst>
                <a:path w="4516755" h="721995" extrusionOk="0">
                  <a:moveTo>
                    <a:pt x="4516274" y="0"/>
                  </a:moveTo>
                  <a:lnTo>
                    <a:pt x="0" y="0"/>
                  </a:lnTo>
                  <a:lnTo>
                    <a:pt x="0" y="721979"/>
                  </a:lnTo>
                  <a:lnTo>
                    <a:pt x="4516274" y="721979"/>
                  </a:lnTo>
                  <a:lnTo>
                    <a:pt x="4516274" y="0"/>
                  </a:lnTo>
                  <a:close/>
                </a:path>
              </a:pathLst>
            </a:custGeom>
            <a:solidFill>
              <a:srgbClr val="006EAD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65"/>
                <a:buFont typeface="Arial" panose="020B0604020202020204"/>
                <a:buNone/>
              </a:pPr>
              <a:endParaRPr sz="12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DDD723-C670-BE2F-03A0-49F4498020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0715" y="1240971"/>
            <a:ext cx="10883085" cy="4609554"/>
          </a:xfrm>
        </p:spPr>
        <p:txBody>
          <a:bodyPr>
            <a:normAutofit fontScale="97500"/>
          </a:bodyPr>
          <a:lstStyle/>
          <a:p>
            <a:pPr lvl="0" algn="just" fontAlgn="base"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SAP ABAP –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 language for development</a:t>
            </a:r>
          </a:p>
          <a:p>
            <a:pPr lvl="0" algn="just" fontAlgn="base"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Form –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generating formatted documents</a:t>
            </a:r>
          </a:p>
          <a:p>
            <a:pPr lvl="0" algn="just" fontAlgn="base"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ALV (ABAP List Viewer) –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interactive reports</a:t>
            </a:r>
          </a:p>
          <a:p>
            <a:pPr lvl="0" algn="just" fontAlgn="base"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SAP GUI –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Interface to access SAP system</a:t>
            </a:r>
          </a:p>
          <a:p>
            <a:r>
              <a:rPr lang="en-IN" b="1" dirty="0"/>
              <a:t>SAP Tables: </a:t>
            </a:r>
          </a:p>
          <a:p>
            <a:pPr lvl="1"/>
            <a:r>
              <a:rPr lang="en-IN" dirty="0"/>
              <a:t>MSEG (Material Data) </a:t>
            </a:r>
          </a:p>
          <a:p>
            <a:pPr lvl="1"/>
            <a:r>
              <a:rPr lang="en-IN" dirty="0"/>
              <a:t>EKKO, EKPO, EKET, LFA1 (Purchase Data) </a:t>
            </a:r>
          </a:p>
          <a:p>
            <a:pPr lvl="1"/>
            <a:r>
              <a:rPr lang="en-IN" dirty="0"/>
              <a:t>BUT000 (Business Partner) </a:t>
            </a:r>
          </a:p>
        </p:txBody>
      </p:sp>
      <p:sp>
        <p:nvSpPr>
          <p:cNvPr id="101" name="Google Shape;101;p1">
            <a:extLst>
              <a:ext uri="{FF2B5EF4-FFF2-40B4-BE49-F238E27FC236}">
                <a16:creationId xmlns:a16="http://schemas.microsoft.com/office/drawing/2014/main" id="{38F79358-F525-E108-1863-6AF1B60956F8}"/>
              </a:ext>
            </a:extLst>
          </p:cNvPr>
          <p:cNvSpPr/>
          <p:nvPr/>
        </p:nvSpPr>
        <p:spPr>
          <a:xfrm>
            <a:off x="-9650" y="961756"/>
            <a:ext cx="12192000" cy="45719"/>
          </a:xfrm>
          <a:prstGeom prst="rect">
            <a:avLst/>
          </a:prstGeom>
          <a:solidFill>
            <a:srgbClr val="002060"/>
          </a:solidFill>
          <a:ln w="12700" cap="flat" cmpd="sng">
            <a:solidFill>
              <a:srgbClr val="00B0F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2" name="Picture 2" descr="SURE TRUST | LinkedIn">
            <a:extLst>
              <a:ext uri="{FF2B5EF4-FFF2-40B4-BE49-F238E27FC236}">
                <a16:creationId xmlns:a16="http://schemas.microsoft.com/office/drawing/2014/main" id="{35D25350-B53A-DE50-EEE0-7B428762DB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25000" y="109708"/>
            <a:ext cx="780465" cy="7804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Google Shape;102;p1">
            <a:extLst>
              <a:ext uri="{FF2B5EF4-FFF2-40B4-BE49-F238E27FC236}">
                <a16:creationId xmlns:a16="http://schemas.microsoft.com/office/drawing/2014/main" id="{B0706F80-AE31-D679-7700-251DD3B9F4DC}"/>
              </a:ext>
            </a:extLst>
          </p:cNvPr>
          <p:cNvSpPr txBox="1"/>
          <p:nvPr/>
        </p:nvSpPr>
        <p:spPr>
          <a:xfrm>
            <a:off x="770279" y="6423025"/>
            <a:ext cx="135808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IN" sz="1800" b="0" i="0" u="none" strike="noStrike" cap="none" dirty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SAP ABAP</a:t>
            </a:r>
            <a:endParaRPr sz="1800" b="0" i="0" u="none" strike="noStrike" cap="none" dirty="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" name="Google Shape;100;p1">
            <a:extLst>
              <a:ext uri="{FF2B5EF4-FFF2-40B4-BE49-F238E27FC236}">
                <a16:creationId xmlns:a16="http://schemas.microsoft.com/office/drawing/2014/main" id="{31CCA1BB-640A-41EB-2C18-7CE2AA7FBC6B}"/>
              </a:ext>
            </a:extLst>
          </p:cNvPr>
          <p:cNvSpPr txBox="1">
            <a:spLocks noGrp="1"/>
          </p:cNvSpPr>
          <p:nvPr>
            <p:ph type="ftr" sz="quarter" idx="11"/>
          </p:nvPr>
        </p:nvSpPr>
        <p:spPr>
          <a:xfrm>
            <a:off x="4038600" y="6423025"/>
            <a:ext cx="7172390" cy="335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8550" rIns="0" bIns="0" anchor="t" anchorCtr="0">
            <a:spAutoFit/>
          </a:bodyPr>
          <a:lstStyle/>
          <a:p>
            <a:pPr marR="0" indent="0" algn="ctr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6197600" algn="l"/>
              </a:tabLst>
            </a:pPr>
            <a:r>
              <a:rPr lang="en-US" altLang="en-US" sz="2000" dirty="0">
                <a:solidFill>
                  <a:schemeClr val="tx1"/>
                </a:solidFill>
                <a:ea typeface="Calibri" panose="020F0502020204030204" pitchFamily="34" charset="0"/>
                <a:cs typeface="+mn-lt"/>
                <a:sym typeface="+mn-ea"/>
              </a:rPr>
              <a:t>SURE Trust </a:t>
            </a:r>
            <a:endParaRPr sz="2000" i="0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30D7AB1-5975-88AD-6959-E588E0111FD6}"/>
              </a:ext>
            </a:extLst>
          </p:cNvPr>
          <p:cNvSpPr/>
          <p:nvPr/>
        </p:nvSpPr>
        <p:spPr>
          <a:xfrm>
            <a:off x="3227586" y="-165930"/>
            <a:ext cx="5736827" cy="106760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4800" b="1" dirty="0">
                <a:solidFill>
                  <a:srgbClr val="2F559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 &amp; Technologies</a:t>
            </a:r>
          </a:p>
        </p:txBody>
      </p:sp>
    </p:spTree>
    <p:extLst>
      <p:ext uri="{BB962C8B-B14F-4D97-AF65-F5344CB8AC3E}">
        <p14:creationId xmlns:p14="http://schemas.microsoft.com/office/powerpoint/2010/main" val="42144022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>
          <a:extLst>
            <a:ext uri="{FF2B5EF4-FFF2-40B4-BE49-F238E27FC236}">
              <a16:creationId xmlns:a16="http://schemas.microsoft.com/office/drawing/2014/main" id="{749D7091-8C7C-0CF0-CF76-E12D2B4230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" name="Google Shape;94;p1">
            <a:extLst>
              <a:ext uri="{FF2B5EF4-FFF2-40B4-BE49-F238E27FC236}">
                <a16:creationId xmlns:a16="http://schemas.microsoft.com/office/drawing/2014/main" id="{9D010E6A-6B46-062D-8482-357319E8FEAD}"/>
              </a:ext>
            </a:extLst>
          </p:cNvPr>
          <p:cNvGrpSpPr/>
          <p:nvPr/>
        </p:nvGrpSpPr>
        <p:grpSpPr>
          <a:xfrm>
            <a:off x="0" y="6350596"/>
            <a:ext cx="12192188" cy="507405"/>
            <a:chOff x="-514" y="9019181"/>
            <a:chExt cx="17348468" cy="721995"/>
          </a:xfrm>
        </p:grpSpPr>
        <p:sp>
          <p:nvSpPr>
            <p:cNvPr id="96" name="Google Shape;96;p1">
              <a:extLst>
                <a:ext uri="{FF2B5EF4-FFF2-40B4-BE49-F238E27FC236}">
                  <a16:creationId xmlns:a16="http://schemas.microsoft.com/office/drawing/2014/main" id="{76D0DC41-267C-04DC-0EE9-7865456CDB0C}"/>
                </a:ext>
              </a:extLst>
            </p:cNvPr>
            <p:cNvSpPr/>
            <p:nvPr/>
          </p:nvSpPr>
          <p:spPr>
            <a:xfrm>
              <a:off x="5293059" y="9019181"/>
              <a:ext cx="1647825" cy="721995"/>
            </a:xfrm>
            <a:custGeom>
              <a:avLst/>
              <a:gdLst/>
              <a:ahLst/>
              <a:cxnLst/>
              <a:rect l="l" t="t" r="r" b="b"/>
              <a:pathLst>
                <a:path w="1647825" h="721995" extrusionOk="0">
                  <a:moveTo>
                    <a:pt x="1647578" y="0"/>
                  </a:moveTo>
                  <a:lnTo>
                    <a:pt x="357644" y="0"/>
                  </a:lnTo>
                  <a:lnTo>
                    <a:pt x="0" y="721979"/>
                  </a:lnTo>
                  <a:lnTo>
                    <a:pt x="1289933" y="721979"/>
                  </a:lnTo>
                  <a:lnTo>
                    <a:pt x="1647578" y="0"/>
                  </a:lnTo>
                  <a:close/>
                </a:path>
              </a:pathLst>
            </a:custGeom>
            <a:solidFill>
              <a:srgbClr val="FFF4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65"/>
                <a:buFont typeface="Arial" panose="020B0604020202020204"/>
                <a:buNone/>
              </a:pPr>
              <a:endParaRPr sz="12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7" name="Google Shape;97;p1">
              <a:extLst>
                <a:ext uri="{FF2B5EF4-FFF2-40B4-BE49-F238E27FC236}">
                  <a16:creationId xmlns:a16="http://schemas.microsoft.com/office/drawing/2014/main" id="{394F6E59-146C-3A3A-A524-99408E391307}"/>
                </a:ext>
              </a:extLst>
            </p:cNvPr>
            <p:cNvSpPr/>
            <p:nvPr/>
          </p:nvSpPr>
          <p:spPr>
            <a:xfrm>
              <a:off x="3260091" y="9019181"/>
              <a:ext cx="1647825" cy="721995"/>
            </a:xfrm>
            <a:custGeom>
              <a:avLst/>
              <a:gdLst/>
              <a:ahLst/>
              <a:cxnLst/>
              <a:rect l="l" t="t" r="r" b="b"/>
              <a:pathLst>
                <a:path w="1647825" h="721995" extrusionOk="0">
                  <a:moveTo>
                    <a:pt x="1647579" y="0"/>
                  </a:moveTo>
                  <a:lnTo>
                    <a:pt x="357645" y="0"/>
                  </a:lnTo>
                  <a:lnTo>
                    <a:pt x="0" y="721979"/>
                  </a:lnTo>
                  <a:lnTo>
                    <a:pt x="1289933" y="721979"/>
                  </a:lnTo>
                  <a:lnTo>
                    <a:pt x="1647579" y="0"/>
                  </a:lnTo>
                  <a:close/>
                </a:path>
              </a:pathLst>
            </a:custGeom>
            <a:solidFill>
              <a:srgbClr val="006EAD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65"/>
                <a:buFont typeface="Arial" panose="020B0604020202020204"/>
                <a:buNone/>
              </a:pPr>
              <a:endParaRPr sz="12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8" name="Google Shape;98;p1">
              <a:extLst>
                <a:ext uri="{FF2B5EF4-FFF2-40B4-BE49-F238E27FC236}">
                  <a16:creationId xmlns:a16="http://schemas.microsoft.com/office/drawing/2014/main" id="{E90CF39C-EE14-82E3-ECC1-0DBF6F889964}"/>
                </a:ext>
              </a:extLst>
            </p:cNvPr>
            <p:cNvSpPr/>
            <p:nvPr/>
          </p:nvSpPr>
          <p:spPr>
            <a:xfrm>
              <a:off x="5757299" y="9019181"/>
              <a:ext cx="11590655" cy="721995"/>
            </a:xfrm>
            <a:custGeom>
              <a:avLst/>
              <a:gdLst/>
              <a:ahLst/>
              <a:cxnLst/>
              <a:rect l="l" t="t" r="r" b="b"/>
              <a:pathLst>
                <a:path w="11590655" h="721995" extrusionOk="0">
                  <a:moveTo>
                    <a:pt x="11590369" y="0"/>
                  </a:moveTo>
                  <a:lnTo>
                    <a:pt x="0" y="0"/>
                  </a:lnTo>
                  <a:lnTo>
                    <a:pt x="0" y="721979"/>
                  </a:lnTo>
                  <a:lnTo>
                    <a:pt x="11590369" y="721979"/>
                  </a:lnTo>
                  <a:lnTo>
                    <a:pt x="11590369" y="0"/>
                  </a:lnTo>
                  <a:close/>
                </a:path>
              </a:pathLst>
            </a:custGeom>
            <a:solidFill>
              <a:srgbClr val="FFF4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65"/>
                <a:buFont typeface="Arial" panose="020B0604020202020204"/>
                <a:buNone/>
              </a:pPr>
              <a:endParaRPr sz="12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9" name="Google Shape;99;p1">
              <a:extLst>
                <a:ext uri="{FF2B5EF4-FFF2-40B4-BE49-F238E27FC236}">
                  <a16:creationId xmlns:a16="http://schemas.microsoft.com/office/drawing/2014/main" id="{0E746132-C5AB-6589-3E0C-4E16F4848A35}"/>
                </a:ext>
              </a:extLst>
            </p:cNvPr>
            <p:cNvSpPr/>
            <p:nvPr/>
          </p:nvSpPr>
          <p:spPr>
            <a:xfrm>
              <a:off x="-514" y="9019181"/>
              <a:ext cx="4516755" cy="721995"/>
            </a:xfrm>
            <a:custGeom>
              <a:avLst/>
              <a:gdLst/>
              <a:ahLst/>
              <a:cxnLst/>
              <a:rect l="l" t="t" r="r" b="b"/>
              <a:pathLst>
                <a:path w="4516755" h="721995" extrusionOk="0">
                  <a:moveTo>
                    <a:pt x="4516274" y="0"/>
                  </a:moveTo>
                  <a:lnTo>
                    <a:pt x="0" y="0"/>
                  </a:lnTo>
                  <a:lnTo>
                    <a:pt x="0" y="721979"/>
                  </a:lnTo>
                  <a:lnTo>
                    <a:pt x="4516274" y="721979"/>
                  </a:lnTo>
                  <a:lnTo>
                    <a:pt x="4516274" y="0"/>
                  </a:lnTo>
                  <a:close/>
                </a:path>
              </a:pathLst>
            </a:custGeom>
            <a:solidFill>
              <a:srgbClr val="006EAD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65"/>
                <a:buFont typeface="Arial" panose="020B0604020202020204"/>
                <a:buNone/>
              </a:pPr>
              <a:endParaRPr sz="12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101" name="Google Shape;101;p1">
            <a:extLst>
              <a:ext uri="{FF2B5EF4-FFF2-40B4-BE49-F238E27FC236}">
                <a16:creationId xmlns:a16="http://schemas.microsoft.com/office/drawing/2014/main" id="{752C4264-B8B2-28A3-EEEF-48AFEF3201B9}"/>
              </a:ext>
            </a:extLst>
          </p:cNvPr>
          <p:cNvSpPr/>
          <p:nvPr/>
        </p:nvSpPr>
        <p:spPr>
          <a:xfrm>
            <a:off x="0" y="971718"/>
            <a:ext cx="12192000" cy="45719"/>
          </a:xfrm>
          <a:prstGeom prst="rect">
            <a:avLst/>
          </a:prstGeom>
          <a:solidFill>
            <a:srgbClr val="002060"/>
          </a:solidFill>
          <a:ln w="12700" cap="flat" cmpd="sng">
            <a:solidFill>
              <a:srgbClr val="00B0F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2" name="Picture 2" descr="SURE TRUST | LinkedIn">
            <a:extLst>
              <a:ext uri="{FF2B5EF4-FFF2-40B4-BE49-F238E27FC236}">
                <a16:creationId xmlns:a16="http://schemas.microsoft.com/office/drawing/2014/main" id="{F8335E0F-CFE4-0C3B-2C77-3046471C3E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25000" y="109708"/>
            <a:ext cx="780465" cy="7804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Google Shape;102;p1">
            <a:extLst>
              <a:ext uri="{FF2B5EF4-FFF2-40B4-BE49-F238E27FC236}">
                <a16:creationId xmlns:a16="http://schemas.microsoft.com/office/drawing/2014/main" id="{4D2863D8-0B9A-1DA9-5699-5469835FB55E}"/>
              </a:ext>
            </a:extLst>
          </p:cNvPr>
          <p:cNvSpPr txBox="1"/>
          <p:nvPr/>
        </p:nvSpPr>
        <p:spPr>
          <a:xfrm>
            <a:off x="770279" y="6423025"/>
            <a:ext cx="135808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IN" sz="1800" b="0" i="0" u="none" strike="noStrike" cap="none" dirty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SAP ABAP</a:t>
            </a:r>
            <a:endParaRPr sz="1800" b="0" i="0" u="none" strike="noStrike" cap="none" dirty="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" name="Google Shape;100;p1">
            <a:extLst>
              <a:ext uri="{FF2B5EF4-FFF2-40B4-BE49-F238E27FC236}">
                <a16:creationId xmlns:a16="http://schemas.microsoft.com/office/drawing/2014/main" id="{7004CC5D-BA72-280E-D4D2-2694ECC742C5}"/>
              </a:ext>
            </a:extLst>
          </p:cNvPr>
          <p:cNvSpPr txBox="1">
            <a:spLocks noGrp="1"/>
          </p:cNvSpPr>
          <p:nvPr>
            <p:ph type="ftr" sz="quarter" idx="11"/>
          </p:nvPr>
        </p:nvSpPr>
        <p:spPr>
          <a:xfrm>
            <a:off x="4038600" y="6423025"/>
            <a:ext cx="7172390" cy="335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8550" rIns="0" bIns="0" anchor="t" anchorCtr="0">
            <a:spAutoFit/>
          </a:bodyPr>
          <a:lstStyle/>
          <a:p>
            <a:pPr marR="0" indent="0" algn="ctr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6197600" algn="l"/>
              </a:tabLst>
            </a:pPr>
            <a:r>
              <a:rPr lang="en-US" altLang="en-US" sz="2000" dirty="0">
                <a:solidFill>
                  <a:schemeClr val="tx1"/>
                </a:solidFill>
                <a:ea typeface="Calibri" panose="020F0502020204030204" pitchFamily="34" charset="0"/>
                <a:cs typeface="+mn-lt"/>
                <a:sym typeface="+mn-ea"/>
              </a:rPr>
              <a:t>SURE Trust </a:t>
            </a:r>
            <a:endParaRPr sz="2000" i="0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408ECFF-9CBB-65A5-E4FA-58624809FA87}"/>
              </a:ext>
            </a:extLst>
          </p:cNvPr>
          <p:cNvSpPr/>
          <p:nvPr/>
        </p:nvSpPr>
        <p:spPr>
          <a:xfrm>
            <a:off x="3847564" y="-105844"/>
            <a:ext cx="4496872" cy="106760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4800" b="1" dirty="0">
                <a:solidFill>
                  <a:srgbClr val="2F559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Modules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F71D215C-66FC-41E3-EDA0-DA3632BB0CC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68597" y="1549791"/>
            <a:ext cx="10842393" cy="3505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/>
              <a:t> </a:t>
            </a:r>
            <a:r>
              <a:rPr lang="en-US" sz="2400" b="1" dirty="0"/>
              <a:t>ALV Report:</a:t>
            </a:r>
            <a:r>
              <a:rPr lang="en-US" sz="2400" dirty="0"/>
              <a:t> Displays </a:t>
            </a:r>
            <a:r>
              <a:rPr lang="en-US" sz="2400" b="1" dirty="0"/>
              <a:t>material document data (MSEG)</a:t>
            </a:r>
            <a:r>
              <a:rPr lang="en-US" sz="2400" dirty="0"/>
              <a:t> in a structured format with </a:t>
            </a:r>
            <a:r>
              <a:rPr lang="en-US" sz="2400" b="1" dirty="0"/>
              <a:t>sorting, filtering, and Excel download</a:t>
            </a:r>
            <a:r>
              <a:rPr lang="en-US" sz="2400" dirty="0"/>
              <a:t> features.</a:t>
            </a:r>
          </a:p>
          <a:p>
            <a:r>
              <a:rPr lang="en-US" sz="2400" dirty="0"/>
              <a:t> </a:t>
            </a:r>
            <a:r>
              <a:rPr lang="en-US" sz="2400" b="1" dirty="0"/>
              <a:t>Smart Form:</a:t>
            </a:r>
            <a:r>
              <a:rPr lang="en-US" sz="2400" dirty="0"/>
              <a:t> Generates </a:t>
            </a:r>
            <a:r>
              <a:rPr lang="en-US" sz="2400" b="1" dirty="0"/>
              <a:t>formatted output</a:t>
            </a:r>
            <a:r>
              <a:rPr lang="en-US" sz="2400" dirty="0"/>
              <a:t> for </a:t>
            </a:r>
            <a:r>
              <a:rPr lang="en-US" sz="2400" b="1" dirty="0"/>
              <a:t>Business Partner data (BUT000)</a:t>
            </a:r>
            <a:r>
              <a:rPr lang="en-US" sz="2400" dirty="0"/>
              <a:t> with a clean and professional layout.</a:t>
            </a:r>
          </a:p>
          <a:p>
            <a:r>
              <a:rPr lang="en-US" sz="2400" dirty="0"/>
              <a:t> </a:t>
            </a:r>
            <a:r>
              <a:rPr lang="en-US" sz="2400" b="1" dirty="0"/>
              <a:t>Submit Report:</a:t>
            </a:r>
            <a:r>
              <a:rPr lang="en-US" sz="2400" dirty="0"/>
              <a:t> Retrieves </a:t>
            </a:r>
            <a:r>
              <a:rPr lang="en-US" sz="2400" b="1" dirty="0"/>
              <a:t>purchase order data (EKKO, EKPO, EKET, LFA1)</a:t>
            </a:r>
            <a:r>
              <a:rPr lang="en-US" sz="2400" dirty="0"/>
              <a:t> and uses </a:t>
            </a:r>
            <a:r>
              <a:rPr lang="en-US" sz="2400" b="1" dirty="0"/>
              <a:t>SUBMIT</a:t>
            </a:r>
            <a:r>
              <a:rPr lang="en-US" sz="2400" dirty="0"/>
              <a:t> to call standard SAP reports.</a:t>
            </a:r>
          </a:p>
          <a:p>
            <a:r>
              <a:rPr lang="en-US" sz="2400" dirty="0"/>
              <a:t> </a:t>
            </a:r>
            <a:r>
              <a:rPr lang="en-US" sz="2400" b="1" dirty="0"/>
              <a:t>Interactive Features:</a:t>
            </a:r>
            <a:r>
              <a:rPr lang="en-US" sz="2400" dirty="0"/>
              <a:t> Provides </a:t>
            </a:r>
            <a:r>
              <a:rPr lang="en-US" sz="2400" b="1" dirty="0"/>
              <a:t>selection screens, filtering options, and navigation</a:t>
            </a:r>
            <a:r>
              <a:rPr lang="en-US" sz="2400" dirty="0"/>
              <a:t> to transactions like </a:t>
            </a:r>
            <a:r>
              <a:rPr lang="en-US" sz="2400" b="1" dirty="0"/>
              <a:t>ME23N</a:t>
            </a:r>
            <a:r>
              <a:rPr lang="en-US" sz="2400" dirty="0"/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41272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>
          <a:extLst>
            <a:ext uri="{FF2B5EF4-FFF2-40B4-BE49-F238E27FC236}">
              <a16:creationId xmlns:a16="http://schemas.microsoft.com/office/drawing/2014/main" id="{11D460C7-9C68-6D25-2084-3BEE0351A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" name="Google Shape;94;p1">
            <a:extLst>
              <a:ext uri="{FF2B5EF4-FFF2-40B4-BE49-F238E27FC236}">
                <a16:creationId xmlns:a16="http://schemas.microsoft.com/office/drawing/2014/main" id="{29995E0F-4CE4-B6B2-BBFE-D1277B3C672E}"/>
              </a:ext>
            </a:extLst>
          </p:cNvPr>
          <p:cNvGrpSpPr/>
          <p:nvPr/>
        </p:nvGrpSpPr>
        <p:grpSpPr>
          <a:xfrm>
            <a:off x="0" y="6350596"/>
            <a:ext cx="12192188" cy="507405"/>
            <a:chOff x="-514" y="9019181"/>
            <a:chExt cx="17348468" cy="721995"/>
          </a:xfrm>
        </p:grpSpPr>
        <p:sp>
          <p:nvSpPr>
            <p:cNvPr id="96" name="Google Shape;96;p1">
              <a:extLst>
                <a:ext uri="{FF2B5EF4-FFF2-40B4-BE49-F238E27FC236}">
                  <a16:creationId xmlns:a16="http://schemas.microsoft.com/office/drawing/2014/main" id="{8A30238C-1EDD-DF90-D68F-24E563ADE76B}"/>
                </a:ext>
              </a:extLst>
            </p:cNvPr>
            <p:cNvSpPr/>
            <p:nvPr/>
          </p:nvSpPr>
          <p:spPr>
            <a:xfrm>
              <a:off x="5293059" y="9019181"/>
              <a:ext cx="1647825" cy="721995"/>
            </a:xfrm>
            <a:custGeom>
              <a:avLst/>
              <a:gdLst/>
              <a:ahLst/>
              <a:cxnLst/>
              <a:rect l="l" t="t" r="r" b="b"/>
              <a:pathLst>
                <a:path w="1647825" h="721995" extrusionOk="0">
                  <a:moveTo>
                    <a:pt x="1647578" y="0"/>
                  </a:moveTo>
                  <a:lnTo>
                    <a:pt x="357644" y="0"/>
                  </a:lnTo>
                  <a:lnTo>
                    <a:pt x="0" y="721979"/>
                  </a:lnTo>
                  <a:lnTo>
                    <a:pt x="1289933" y="721979"/>
                  </a:lnTo>
                  <a:lnTo>
                    <a:pt x="1647578" y="0"/>
                  </a:lnTo>
                  <a:close/>
                </a:path>
              </a:pathLst>
            </a:custGeom>
            <a:solidFill>
              <a:srgbClr val="FFF4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65"/>
                <a:buFont typeface="Arial" panose="020B0604020202020204"/>
                <a:buNone/>
              </a:pPr>
              <a:endParaRPr sz="12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7" name="Google Shape;97;p1">
              <a:extLst>
                <a:ext uri="{FF2B5EF4-FFF2-40B4-BE49-F238E27FC236}">
                  <a16:creationId xmlns:a16="http://schemas.microsoft.com/office/drawing/2014/main" id="{2B1FB2B2-6EB3-0181-68B8-D026C10A9329}"/>
                </a:ext>
              </a:extLst>
            </p:cNvPr>
            <p:cNvSpPr/>
            <p:nvPr/>
          </p:nvSpPr>
          <p:spPr>
            <a:xfrm>
              <a:off x="3260091" y="9019181"/>
              <a:ext cx="1647825" cy="721995"/>
            </a:xfrm>
            <a:custGeom>
              <a:avLst/>
              <a:gdLst/>
              <a:ahLst/>
              <a:cxnLst/>
              <a:rect l="l" t="t" r="r" b="b"/>
              <a:pathLst>
                <a:path w="1647825" h="721995" extrusionOk="0">
                  <a:moveTo>
                    <a:pt x="1647579" y="0"/>
                  </a:moveTo>
                  <a:lnTo>
                    <a:pt x="357645" y="0"/>
                  </a:lnTo>
                  <a:lnTo>
                    <a:pt x="0" y="721979"/>
                  </a:lnTo>
                  <a:lnTo>
                    <a:pt x="1289933" y="721979"/>
                  </a:lnTo>
                  <a:lnTo>
                    <a:pt x="1647579" y="0"/>
                  </a:lnTo>
                  <a:close/>
                </a:path>
              </a:pathLst>
            </a:custGeom>
            <a:solidFill>
              <a:srgbClr val="006EAD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65"/>
                <a:buFont typeface="Arial" panose="020B0604020202020204"/>
                <a:buNone/>
              </a:pPr>
              <a:endParaRPr sz="12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8" name="Google Shape;98;p1">
              <a:extLst>
                <a:ext uri="{FF2B5EF4-FFF2-40B4-BE49-F238E27FC236}">
                  <a16:creationId xmlns:a16="http://schemas.microsoft.com/office/drawing/2014/main" id="{E9E6A656-9E31-FEA3-0792-F83D31B62809}"/>
                </a:ext>
              </a:extLst>
            </p:cNvPr>
            <p:cNvSpPr/>
            <p:nvPr/>
          </p:nvSpPr>
          <p:spPr>
            <a:xfrm>
              <a:off x="5757299" y="9019181"/>
              <a:ext cx="11590655" cy="721995"/>
            </a:xfrm>
            <a:custGeom>
              <a:avLst/>
              <a:gdLst/>
              <a:ahLst/>
              <a:cxnLst/>
              <a:rect l="l" t="t" r="r" b="b"/>
              <a:pathLst>
                <a:path w="11590655" h="721995" extrusionOk="0">
                  <a:moveTo>
                    <a:pt x="11590369" y="0"/>
                  </a:moveTo>
                  <a:lnTo>
                    <a:pt x="0" y="0"/>
                  </a:lnTo>
                  <a:lnTo>
                    <a:pt x="0" y="721979"/>
                  </a:lnTo>
                  <a:lnTo>
                    <a:pt x="11590369" y="721979"/>
                  </a:lnTo>
                  <a:lnTo>
                    <a:pt x="11590369" y="0"/>
                  </a:lnTo>
                  <a:close/>
                </a:path>
              </a:pathLst>
            </a:custGeom>
            <a:solidFill>
              <a:srgbClr val="FFF4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65"/>
                <a:buFont typeface="Arial" panose="020B0604020202020204"/>
                <a:buNone/>
              </a:pPr>
              <a:endParaRPr sz="12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9" name="Google Shape;99;p1">
              <a:extLst>
                <a:ext uri="{FF2B5EF4-FFF2-40B4-BE49-F238E27FC236}">
                  <a16:creationId xmlns:a16="http://schemas.microsoft.com/office/drawing/2014/main" id="{BB0C89BA-5EA5-625D-D7E5-E273C2179A5E}"/>
                </a:ext>
              </a:extLst>
            </p:cNvPr>
            <p:cNvSpPr/>
            <p:nvPr/>
          </p:nvSpPr>
          <p:spPr>
            <a:xfrm>
              <a:off x="-514" y="9019181"/>
              <a:ext cx="4516755" cy="721995"/>
            </a:xfrm>
            <a:custGeom>
              <a:avLst/>
              <a:gdLst/>
              <a:ahLst/>
              <a:cxnLst/>
              <a:rect l="l" t="t" r="r" b="b"/>
              <a:pathLst>
                <a:path w="4516755" h="721995" extrusionOk="0">
                  <a:moveTo>
                    <a:pt x="4516274" y="0"/>
                  </a:moveTo>
                  <a:lnTo>
                    <a:pt x="0" y="0"/>
                  </a:lnTo>
                  <a:lnTo>
                    <a:pt x="0" y="721979"/>
                  </a:lnTo>
                  <a:lnTo>
                    <a:pt x="4516274" y="721979"/>
                  </a:lnTo>
                  <a:lnTo>
                    <a:pt x="4516274" y="0"/>
                  </a:lnTo>
                  <a:close/>
                </a:path>
              </a:pathLst>
            </a:custGeom>
            <a:solidFill>
              <a:srgbClr val="006EAD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65"/>
                <a:buFont typeface="Arial" panose="020B0604020202020204"/>
                <a:buNone/>
              </a:pPr>
              <a:endParaRPr sz="12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33C3B5-5288-BF5F-C2D1-015696DE8F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0715" y="1240971"/>
            <a:ext cx="10883085" cy="4609554"/>
          </a:xfrm>
        </p:spPr>
        <p:txBody>
          <a:bodyPr>
            <a:normAutofit fontScale="90000" lnSpcReduction="10000"/>
          </a:bodyPr>
          <a:lstStyle/>
          <a:p>
            <a:r>
              <a:rPr lang="en-IN" sz="2400" b="1" dirty="0"/>
              <a:t>System Workflow</a:t>
            </a:r>
            <a:endParaRPr lang="en-IN" sz="2400" dirty="0"/>
          </a:p>
          <a:p>
            <a:r>
              <a:rPr lang="en-IN" sz="2400" dirty="0"/>
              <a:t>User enters input through selection screen </a:t>
            </a:r>
          </a:p>
          <a:p>
            <a:r>
              <a:rPr lang="en-IN" sz="2400" b="1" dirty="0"/>
              <a:t>Data Retrieval</a:t>
            </a:r>
            <a:endParaRPr lang="en-IN" sz="2400" dirty="0"/>
          </a:p>
          <a:p>
            <a:r>
              <a:rPr lang="en-IN" sz="2400" dirty="0"/>
              <a:t>Data fetched from SAP tables (MSEG, EKKO, EKPO, etc.) </a:t>
            </a:r>
          </a:p>
          <a:p>
            <a:r>
              <a:rPr lang="en-IN" sz="2400" b="1" dirty="0"/>
              <a:t>Processing</a:t>
            </a:r>
            <a:endParaRPr lang="en-IN" sz="2400" dirty="0"/>
          </a:p>
          <a:p>
            <a:r>
              <a:rPr lang="en-IN" sz="2400" dirty="0"/>
              <a:t>Data is filtered and structured </a:t>
            </a:r>
          </a:p>
          <a:p>
            <a:r>
              <a:rPr lang="en-IN" sz="2400" b="1" dirty="0"/>
              <a:t>Output Generation</a:t>
            </a:r>
            <a:endParaRPr lang="en-IN" sz="2400" dirty="0"/>
          </a:p>
          <a:p>
            <a:r>
              <a:rPr lang="en-IN" sz="2400" dirty="0"/>
              <a:t>ALV report displays data </a:t>
            </a:r>
          </a:p>
          <a:p>
            <a:r>
              <a:rPr lang="en-IN" sz="2400" dirty="0"/>
              <a:t>Smart Form generates formatted output </a:t>
            </a:r>
          </a:p>
          <a:p>
            <a:r>
              <a:rPr lang="en-IN" sz="2400" b="1" dirty="0"/>
              <a:t>Integration</a:t>
            </a:r>
            <a:endParaRPr lang="en-IN" sz="2400" dirty="0"/>
          </a:p>
          <a:p>
            <a:r>
              <a:rPr lang="en-IN" sz="2400" dirty="0"/>
              <a:t>SUBMIT calls standard SAP report dynamically</a:t>
            </a:r>
          </a:p>
        </p:txBody>
      </p:sp>
      <p:sp>
        <p:nvSpPr>
          <p:cNvPr id="101" name="Google Shape;101;p1">
            <a:extLst>
              <a:ext uri="{FF2B5EF4-FFF2-40B4-BE49-F238E27FC236}">
                <a16:creationId xmlns:a16="http://schemas.microsoft.com/office/drawing/2014/main" id="{9DD14B77-01E1-C92C-5FCF-F3637BA07AB8}"/>
              </a:ext>
            </a:extLst>
          </p:cNvPr>
          <p:cNvSpPr/>
          <p:nvPr/>
        </p:nvSpPr>
        <p:spPr>
          <a:xfrm>
            <a:off x="0" y="988744"/>
            <a:ext cx="12192000" cy="45719"/>
          </a:xfrm>
          <a:prstGeom prst="rect">
            <a:avLst/>
          </a:prstGeom>
          <a:solidFill>
            <a:srgbClr val="002060"/>
          </a:solidFill>
          <a:ln w="12700" cap="flat" cmpd="sng">
            <a:solidFill>
              <a:srgbClr val="00B0F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2" name="Picture 2" descr="SURE TRUST | LinkedIn">
            <a:extLst>
              <a:ext uri="{FF2B5EF4-FFF2-40B4-BE49-F238E27FC236}">
                <a16:creationId xmlns:a16="http://schemas.microsoft.com/office/drawing/2014/main" id="{C2C27168-B304-A748-6EBC-E68FDA329C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25000" y="109708"/>
            <a:ext cx="780465" cy="7804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Google Shape;102;p1">
            <a:extLst>
              <a:ext uri="{FF2B5EF4-FFF2-40B4-BE49-F238E27FC236}">
                <a16:creationId xmlns:a16="http://schemas.microsoft.com/office/drawing/2014/main" id="{824C8935-8C77-4814-C0D9-C36508453BC7}"/>
              </a:ext>
            </a:extLst>
          </p:cNvPr>
          <p:cNvSpPr txBox="1"/>
          <p:nvPr/>
        </p:nvSpPr>
        <p:spPr>
          <a:xfrm>
            <a:off x="770279" y="6423025"/>
            <a:ext cx="135808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IN" sz="1800" b="0" i="0" u="none" strike="noStrike" cap="none" dirty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SAP ABAP</a:t>
            </a:r>
            <a:endParaRPr sz="1800" b="0" i="0" u="none" strike="noStrike" cap="none" dirty="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" name="Google Shape;100;p1">
            <a:extLst>
              <a:ext uri="{FF2B5EF4-FFF2-40B4-BE49-F238E27FC236}">
                <a16:creationId xmlns:a16="http://schemas.microsoft.com/office/drawing/2014/main" id="{7C5C41CA-52EB-106F-2704-9187804AAFAA}"/>
              </a:ext>
            </a:extLst>
          </p:cNvPr>
          <p:cNvSpPr txBox="1">
            <a:spLocks noGrp="1"/>
          </p:cNvSpPr>
          <p:nvPr>
            <p:ph type="ftr" sz="quarter" idx="11"/>
          </p:nvPr>
        </p:nvSpPr>
        <p:spPr>
          <a:xfrm>
            <a:off x="4038600" y="6423025"/>
            <a:ext cx="7172390" cy="335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8550" rIns="0" bIns="0" anchor="t" anchorCtr="0">
            <a:spAutoFit/>
          </a:bodyPr>
          <a:lstStyle/>
          <a:p>
            <a:pPr marR="0" indent="0" algn="ctr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6197600" algn="l"/>
              </a:tabLst>
            </a:pPr>
            <a:r>
              <a:rPr lang="en-US" altLang="en-US" sz="2000" dirty="0">
                <a:solidFill>
                  <a:schemeClr val="tx1"/>
                </a:solidFill>
                <a:ea typeface="Calibri" panose="020F0502020204030204" pitchFamily="34" charset="0"/>
                <a:cs typeface="+mn-lt"/>
                <a:sym typeface="+mn-ea"/>
              </a:rPr>
              <a:t>SURE Trust </a:t>
            </a:r>
            <a:endParaRPr sz="2000" i="0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3D55A47-8344-3855-C38A-C8EEB394D096}"/>
              </a:ext>
            </a:extLst>
          </p:cNvPr>
          <p:cNvSpPr/>
          <p:nvPr/>
        </p:nvSpPr>
        <p:spPr>
          <a:xfrm>
            <a:off x="4291780" y="-105844"/>
            <a:ext cx="3793026" cy="106760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4800" b="1" dirty="0">
                <a:solidFill>
                  <a:srgbClr val="2F559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 </a:t>
            </a:r>
          </a:p>
        </p:txBody>
      </p:sp>
    </p:spTree>
    <p:extLst>
      <p:ext uri="{BB962C8B-B14F-4D97-AF65-F5344CB8AC3E}">
        <p14:creationId xmlns:p14="http://schemas.microsoft.com/office/powerpoint/2010/main" val="26239811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>
          <a:extLst>
            <a:ext uri="{FF2B5EF4-FFF2-40B4-BE49-F238E27FC236}">
              <a16:creationId xmlns:a16="http://schemas.microsoft.com/office/drawing/2014/main" id="{9D443355-A54C-00A1-6CD6-06C86DD73A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" name="Google Shape;94;p1">
            <a:extLst>
              <a:ext uri="{FF2B5EF4-FFF2-40B4-BE49-F238E27FC236}">
                <a16:creationId xmlns:a16="http://schemas.microsoft.com/office/drawing/2014/main" id="{1EE24F65-8A67-0670-24C6-6D0651C04D55}"/>
              </a:ext>
            </a:extLst>
          </p:cNvPr>
          <p:cNvGrpSpPr/>
          <p:nvPr/>
        </p:nvGrpSpPr>
        <p:grpSpPr>
          <a:xfrm>
            <a:off x="0" y="6350596"/>
            <a:ext cx="12192188" cy="507405"/>
            <a:chOff x="-514" y="9019181"/>
            <a:chExt cx="17348468" cy="721995"/>
          </a:xfrm>
        </p:grpSpPr>
        <p:sp>
          <p:nvSpPr>
            <p:cNvPr id="96" name="Google Shape;96;p1">
              <a:extLst>
                <a:ext uri="{FF2B5EF4-FFF2-40B4-BE49-F238E27FC236}">
                  <a16:creationId xmlns:a16="http://schemas.microsoft.com/office/drawing/2014/main" id="{2A596068-7D0E-A04A-6493-2F8395B60D52}"/>
                </a:ext>
              </a:extLst>
            </p:cNvPr>
            <p:cNvSpPr/>
            <p:nvPr/>
          </p:nvSpPr>
          <p:spPr>
            <a:xfrm>
              <a:off x="5293059" y="9019181"/>
              <a:ext cx="1647825" cy="721995"/>
            </a:xfrm>
            <a:custGeom>
              <a:avLst/>
              <a:gdLst/>
              <a:ahLst/>
              <a:cxnLst/>
              <a:rect l="l" t="t" r="r" b="b"/>
              <a:pathLst>
                <a:path w="1647825" h="721995" extrusionOk="0">
                  <a:moveTo>
                    <a:pt x="1647578" y="0"/>
                  </a:moveTo>
                  <a:lnTo>
                    <a:pt x="357644" y="0"/>
                  </a:lnTo>
                  <a:lnTo>
                    <a:pt x="0" y="721979"/>
                  </a:lnTo>
                  <a:lnTo>
                    <a:pt x="1289933" y="721979"/>
                  </a:lnTo>
                  <a:lnTo>
                    <a:pt x="1647578" y="0"/>
                  </a:lnTo>
                  <a:close/>
                </a:path>
              </a:pathLst>
            </a:custGeom>
            <a:solidFill>
              <a:srgbClr val="FFF4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65"/>
                <a:buFont typeface="Arial" panose="020B0604020202020204"/>
                <a:buNone/>
              </a:pPr>
              <a:endParaRPr sz="12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7" name="Google Shape;97;p1">
              <a:extLst>
                <a:ext uri="{FF2B5EF4-FFF2-40B4-BE49-F238E27FC236}">
                  <a16:creationId xmlns:a16="http://schemas.microsoft.com/office/drawing/2014/main" id="{690C8A21-F104-3D46-19C5-7C8F4A8BF84D}"/>
                </a:ext>
              </a:extLst>
            </p:cNvPr>
            <p:cNvSpPr/>
            <p:nvPr/>
          </p:nvSpPr>
          <p:spPr>
            <a:xfrm>
              <a:off x="3260091" y="9019181"/>
              <a:ext cx="1647825" cy="721995"/>
            </a:xfrm>
            <a:custGeom>
              <a:avLst/>
              <a:gdLst/>
              <a:ahLst/>
              <a:cxnLst/>
              <a:rect l="l" t="t" r="r" b="b"/>
              <a:pathLst>
                <a:path w="1647825" h="721995" extrusionOk="0">
                  <a:moveTo>
                    <a:pt x="1647579" y="0"/>
                  </a:moveTo>
                  <a:lnTo>
                    <a:pt x="357645" y="0"/>
                  </a:lnTo>
                  <a:lnTo>
                    <a:pt x="0" y="721979"/>
                  </a:lnTo>
                  <a:lnTo>
                    <a:pt x="1289933" y="721979"/>
                  </a:lnTo>
                  <a:lnTo>
                    <a:pt x="1647579" y="0"/>
                  </a:lnTo>
                  <a:close/>
                </a:path>
              </a:pathLst>
            </a:custGeom>
            <a:solidFill>
              <a:srgbClr val="006EAD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65"/>
                <a:buFont typeface="Arial" panose="020B0604020202020204"/>
                <a:buNone/>
              </a:pPr>
              <a:endParaRPr sz="12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8" name="Google Shape;98;p1">
              <a:extLst>
                <a:ext uri="{FF2B5EF4-FFF2-40B4-BE49-F238E27FC236}">
                  <a16:creationId xmlns:a16="http://schemas.microsoft.com/office/drawing/2014/main" id="{0A279EF4-639B-9CB1-737C-683918BE9C46}"/>
                </a:ext>
              </a:extLst>
            </p:cNvPr>
            <p:cNvSpPr/>
            <p:nvPr/>
          </p:nvSpPr>
          <p:spPr>
            <a:xfrm>
              <a:off x="5757299" y="9019181"/>
              <a:ext cx="11590655" cy="721995"/>
            </a:xfrm>
            <a:custGeom>
              <a:avLst/>
              <a:gdLst/>
              <a:ahLst/>
              <a:cxnLst/>
              <a:rect l="l" t="t" r="r" b="b"/>
              <a:pathLst>
                <a:path w="11590655" h="721995" extrusionOk="0">
                  <a:moveTo>
                    <a:pt x="11590369" y="0"/>
                  </a:moveTo>
                  <a:lnTo>
                    <a:pt x="0" y="0"/>
                  </a:lnTo>
                  <a:lnTo>
                    <a:pt x="0" y="721979"/>
                  </a:lnTo>
                  <a:lnTo>
                    <a:pt x="11590369" y="721979"/>
                  </a:lnTo>
                  <a:lnTo>
                    <a:pt x="11590369" y="0"/>
                  </a:lnTo>
                  <a:close/>
                </a:path>
              </a:pathLst>
            </a:custGeom>
            <a:solidFill>
              <a:srgbClr val="FFF4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65"/>
                <a:buFont typeface="Arial" panose="020B0604020202020204"/>
                <a:buNone/>
              </a:pPr>
              <a:endParaRPr sz="12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9" name="Google Shape;99;p1">
              <a:extLst>
                <a:ext uri="{FF2B5EF4-FFF2-40B4-BE49-F238E27FC236}">
                  <a16:creationId xmlns:a16="http://schemas.microsoft.com/office/drawing/2014/main" id="{08663181-4601-196A-72E9-42505EA91474}"/>
                </a:ext>
              </a:extLst>
            </p:cNvPr>
            <p:cNvSpPr/>
            <p:nvPr/>
          </p:nvSpPr>
          <p:spPr>
            <a:xfrm>
              <a:off x="-514" y="9019181"/>
              <a:ext cx="4516755" cy="721995"/>
            </a:xfrm>
            <a:custGeom>
              <a:avLst/>
              <a:gdLst/>
              <a:ahLst/>
              <a:cxnLst/>
              <a:rect l="l" t="t" r="r" b="b"/>
              <a:pathLst>
                <a:path w="4516755" h="721995" extrusionOk="0">
                  <a:moveTo>
                    <a:pt x="4516274" y="0"/>
                  </a:moveTo>
                  <a:lnTo>
                    <a:pt x="0" y="0"/>
                  </a:lnTo>
                  <a:lnTo>
                    <a:pt x="0" y="721979"/>
                  </a:lnTo>
                  <a:lnTo>
                    <a:pt x="4516274" y="721979"/>
                  </a:lnTo>
                  <a:lnTo>
                    <a:pt x="4516274" y="0"/>
                  </a:lnTo>
                  <a:close/>
                </a:path>
              </a:pathLst>
            </a:custGeom>
            <a:solidFill>
              <a:srgbClr val="006EAD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65"/>
                <a:buFont typeface="Arial" panose="020B0604020202020204"/>
                <a:buNone/>
              </a:pPr>
              <a:endParaRPr sz="12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721D6F-509E-40E7-8A95-FE863E2F63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0715" y="1240971"/>
            <a:ext cx="10883085" cy="4609554"/>
          </a:xfrm>
        </p:spPr>
        <p:txBody>
          <a:bodyPr>
            <a:normAutofit fontScale="97500"/>
          </a:bodyPr>
          <a:lstStyle/>
          <a:p>
            <a:pPr marL="0" indent="0">
              <a:buNone/>
            </a:pPr>
            <a:r>
              <a:rPr lang="en-IN" sz="2400" b="1" dirty="0"/>
              <a:t>Data Source</a:t>
            </a:r>
            <a:endParaRPr lang="en-IN" sz="2400" dirty="0"/>
          </a:p>
          <a:p>
            <a:r>
              <a:rPr lang="en-IN" sz="2400" dirty="0"/>
              <a:t>MSEG (Material Document Table) </a:t>
            </a:r>
          </a:p>
          <a:p>
            <a:pPr marL="0" indent="0">
              <a:buNone/>
            </a:pPr>
            <a:r>
              <a:rPr lang="en-IN" sz="2400" b="1" dirty="0"/>
              <a:t>Display Method</a:t>
            </a:r>
            <a:endParaRPr lang="en-IN" sz="2400" dirty="0"/>
          </a:p>
          <a:p>
            <a:r>
              <a:rPr lang="en-IN" sz="2400" dirty="0"/>
              <a:t>REUSE_ALV_GRID_DISPLAY </a:t>
            </a:r>
          </a:p>
          <a:p>
            <a:pPr marL="0" indent="0">
              <a:buNone/>
            </a:pPr>
            <a:r>
              <a:rPr lang="en-IN" sz="2400" b="1" dirty="0"/>
              <a:t>Features</a:t>
            </a:r>
            <a:endParaRPr lang="en-IN" sz="2400" dirty="0"/>
          </a:p>
          <a:p>
            <a:r>
              <a:rPr lang="en-IN" sz="2400" dirty="0"/>
              <a:t>Sorting, filtering, interactive layout </a:t>
            </a:r>
          </a:p>
          <a:p>
            <a:pPr marL="0" indent="0">
              <a:buNone/>
            </a:pPr>
            <a:r>
              <a:rPr lang="en-IN" sz="2400" b="1" dirty="0"/>
              <a:t>Excel Download</a:t>
            </a:r>
            <a:endParaRPr lang="en-IN" sz="2400" dirty="0"/>
          </a:p>
          <a:p>
            <a:r>
              <a:rPr lang="en-IN" sz="2400" dirty="0"/>
              <a:t>GUI_DOWNLOAD used </a:t>
            </a:r>
          </a:p>
          <a:p>
            <a:pPr marL="0" indent="0">
              <a:buNone/>
            </a:pPr>
            <a:r>
              <a:rPr lang="en-IN" sz="2400" b="1" dirty="0"/>
              <a:t>User Interaction</a:t>
            </a:r>
            <a:endParaRPr lang="en-IN" sz="2400" dirty="0"/>
          </a:p>
          <a:p>
            <a:r>
              <a:rPr lang="en-IN" sz="2400" dirty="0"/>
              <a:t>File path selection using frontend services</a:t>
            </a:r>
          </a:p>
          <a:p>
            <a:pPr lvl="0" algn="just" fontAlgn="base">
              <a:lnSpc>
                <a:spcPct val="150000"/>
              </a:lnSpc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1" name="Google Shape;101;p1">
            <a:extLst>
              <a:ext uri="{FF2B5EF4-FFF2-40B4-BE49-F238E27FC236}">
                <a16:creationId xmlns:a16="http://schemas.microsoft.com/office/drawing/2014/main" id="{A51FC151-665A-8359-A9CB-E2C2645135D5}"/>
              </a:ext>
            </a:extLst>
          </p:cNvPr>
          <p:cNvSpPr/>
          <p:nvPr/>
        </p:nvSpPr>
        <p:spPr>
          <a:xfrm>
            <a:off x="0" y="971239"/>
            <a:ext cx="12192000" cy="45719"/>
          </a:xfrm>
          <a:prstGeom prst="rect">
            <a:avLst/>
          </a:prstGeom>
          <a:solidFill>
            <a:srgbClr val="002060"/>
          </a:solidFill>
          <a:ln w="12700" cap="flat" cmpd="sng">
            <a:solidFill>
              <a:srgbClr val="00B0F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2" name="Picture 2" descr="SURE TRUST | LinkedIn">
            <a:extLst>
              <a:ext uri="{FF2B5EF4-FFF2-40B4-BE49-F238E27FC236}">
                <a16:creationId xmlns:a16="http://schemas.microsoft.com/office/drawing/2014/main" id="{025B893F-5BA3-8B7E-F7E3-DFA0D4D4B0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25000" y="109708"/>
            <a:ext cx="780465" cy="7804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Google Shape;102;p1">
            <a:extLst>
              <a:ext uri="{FF2B5EF4-FFF2-40B4-BE49-F238E27FC236}">
                <a16:creationId xmlns:a16="http://schemas.microsoft.com/office/drawing/2014/main" id="{92FA8761-AC97-70BB-2731-16DB17BF8861}"/>
              </a:ext>
            </a:extLst>
          </p:cNvPr>
          <p:cNvSpPr txBox="1"/>
          <p:nvPr/>
        </p:nvSpPr>
        <p:spPr>
          <a:xfrm>
            <a:off x="770279" y="6423025"/>
            <a:ext cx="135808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IN" sz="1800" b="0" i="0" u="none" strike="noStrike" cap="none" dirty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SAP ABAP</a:t>
            </a:r>
            <a:endParaRPr sz="1800" b="0" i="0" u="none" strike="noStrike" cap="none" dirty="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" name="Google Shape;100;p1">
            <a:extLst>
              <a:ext uri="{FF2B5EF4-FFF2-40B4-BE49-F238E27FC236}">
                <a16:creationId xmlns:a16="http://schemas.microsoft.com/office/drawing/2014/main" id="{C28C5224-A842-4A20-9FB0-A710EB74A81B}"/>
              </a:ext>
            </a:extLst>
          </p:cNvPr>
          <p:cNvSpPr txBox="1">
            <a:spLocks noGrp="1"/>
          </p:cNvSpPr>
          <p:nvPr>
            <p:ph type="ftr" sz="quarter" idx="11"/>
          </p:nvPr>
        </p:nvSpPr>
        <p:spPr>
          <a:xfrm>
            <a:off x="4038600" y="6423025"/>
            <a:ext cx="7172390" cy="335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8550" rIns="0" bIns="0" anchor="t" anchorCtr="0">
            <a:spAutoFit/>
          </a:bodyPr>
          <a:lstStyle/>
          <a:p>
            <a:pPr marR="0" indent="0" algn="ctr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6197600" algn="l"/>
              </a:tabLst>
            </a:pPr>
            <a:r>
              <a:rPr lang="en-US" altLang="en-US" sz="2000" dirty="0">
                <a:solidFill>
                  <a:schemeClr val="tx1"/>
                </a:solidFill>
                <a:ea typeface="Calibri" panose="020F0502020204030204" pitchFamily="34" charset="0"/>
                <a:cs typeface="+mn-lt"/>
                <a:sym typeface="+mn-ea"/>
              </a:rPr>
              <a:t>SURE Trust </a:t>
            </a:r>
            <a:endParaRPr sz="2000" i="0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18BD8E2-511D-DC3A-9019-022B95E6AB60}"/>
              </a:ext>
            </a:extLst>
          </p:cNvPr>
          <p:cNvSpPr/>
          <p:nvPr/>
        </p:nvSpPr>
        <p:spPr>
          <a:xfrm>
            <a:off x="1524203" y="-66557"/>
            <a:ext cx="8397363" cy="9863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4400" b="1" dirty="0">
                <a:solidFill>
                  <a:srgbClr val="2F559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ALV Report with Excel Download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1D1F135-3908-4897-5632-D6ED5BA2277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698" r="52834"/>
          <a:stretch>
            <a:fillRect/>
          </a:stretch>
        </p:blipFill>
        <p:spPr>
          <a:xfrm>
            <a:off x="6227488" y="1483961"/>
            <a:ext cx="5677977" cy="3851805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1B4C8E9D-B3F8-0CEC-78B6-A11C2C027764}"/>
              </a:ext>
            </a:extLst>
          </p:cNvPr>
          <p:cNvSpPr/>
          <p:nvPr/>
        </p:nvSpPr>
        <p:spPr>
          <a:xfrm>
            <a:off x="7947441" y="5759637"/>
            <a:ext cx="2382255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0" cap="none" spc="0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Fig: ALV Excel Output</a:t>
            </a:r>
          </a:p>
        </p:txBody>
      </p:sp>
    </p:spTree>
    <p:extLst>
      <p:ext uri="{BB962C8B-B14F-4D97-AF65-F5344CB8AC3E}">
        <p14:creationId xmlns:p14="http://schemas.microsoft.com/office/powerpoint/2010/main" val="39917760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>
          <a:extLst>
            <a:ext uri="{FF2B5EF4-FFF2-40B4-BE49-F238E27FC236}">
              <a16:creationId xmlns:a16="http://schemas.microsoft.com/office/drawing/2014/main" id="{0E9F2F79-D3D8-5B1B-F8F3-99BEB59705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" name="Google Shape;94;p1">
            <a:extLst>
              <a:ext uri="{FF2B5EF4-FFF2-40B4-BE49-F238E27FC236}">
                <a16:creationId xmlns:a16="http://schemas.microsoft.com/office/drawing/2014/main" id="{6152B426-D8FF-90AB-29D9-308573F7FE42}"/>
              </a:ext>
            </a:extLst>
          </p:cNvPr>
          <p:cNvGrpSpPr/>
          <p:nvPr/>
        </p:nvGrpSpPr>
        <p:grpSpPr>
          <a:xfrm>
            <a:off x="0" y="6350596"/>
            <a:ext cx="12192188" cy="507405"/>
            <a:chOff x="-514" y="9019181"/>
            <a:chExt cx="17348468" cy="721995"/>
          </a:xfrm>
        </p:grpSpPr>
        <p:sp>
          <p:nvSpPr>
            <p:cNvPr id="96" name="Google Shape;96;p1">
              <a:extLst>
                <a:ext uri="{FF2B5EF4-FFF2-40B4-BE49-F238E27FC236}">
                  <a16:creationId xmlns:a16="http://schemas.microsoft.com/office/drawing/2014/main" id="{34A3ED3A-A6A2-9F97-6B1F-4A4053AD8A97}"/>
                </a:ext>
              </a:extLst>
            </p:cNvPr>
            <p:cNvSpPr/>
            <p:nvPr/>
          </p:nvSpPr>
          <p:spPr>
            <a:xfrm>
              <a:off x="5293059" y="9019181"/>
              <a:ext cx="1647825" cy="721995"/>
            </a:xfrm>
            <a:custGeom>
              <a:avLst/>
              <a:gdLst/>
              <a:ahLst/>
              <a:cxnLst/>
              <a:rect l="l" t="t" r="r" b="b"/>
              <a:pathLst>
                <a:path w="1647825" h="721995" extrusionOk="0">
                  <a:moveTo>
                    <a:pt x="1647578" y="0"/>
                  </a:moveTo>
                  <a:lnTo>
                    <a:pt x="357644" y="0"/>
                  </a:lnTo>
                  <a:lnTo>
                    <a:pt x="0" y="721979"/>
                  </a:lnTo>
                  <a:lnTo>
                    <a:pt x="1289933" y="721979"/>
                  </a:lnTo>
                  <a:lnTo>
                    <a:pt x="1647578" y="0"/>
                  </a:lnTo>
                  <a:close/>
                </a:path>
              </a:pathLst>
            </a:custGeom>
            <a:solidFill>
              <a:srgbClr val="FFF4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65"/>
                <a:buFont typeface="Arial" panose="020B0604020202020204"/>
                <a:buNone/>
              </a:pPr>
              <a:endParaRPr sz="12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7" name="Google Shape;97;p1">
              <a:extLst>
                <a:ext uri="{FF2B5EF4-FFF2-40B4-BE49-F238E27FC236}">
                  <a16:creationId xmlns:a16="http://schemas.microsoft.com/office/drawing/2014/main" id="{22AEB6E5-A135-0E68-DCB3-F7F5704FF02E}"/>
                </a:ext>
              </a:extLst>
            </p:cNvPr>
            <p:cNvSpPr/>
            <p:nvPr/>
          </p:nvSpPr>
          <p:spPr>
            <a:xfrm>
              <a:off x="3260091" y="9019181"/>
              <a:ext cx="1647825" cy="721995"/>
            </a:xfrm>
            <a:custGeom>
              <a:avLst/>
              <a:gdLst/>
              <a:ahLst/>
              <a:cxnLst/>
              <a:rect l="l" t="t" r="r" b="b"/>
              <a:pathLst>
                <a:path w="1647825" h="721995" extrusionOk="0">
                  <a:moveTo>
                    <a:pt x="1647579" y="0"/>
                  </a:moveTo>
                  <a:lnTo>
                    <a:pt x="357645" y="0"/>
                  </a:lnTo>
                  <a:lnTo>
                    <a:pt x="0" y="721979"/>
                  </a:lnTo>
                  <a:lnTo>
                    <a:pt x="1289933" y="721979"/>
                  </a:lnTo>
                  <a:lnTo>
                    <a:pt x="1647579" y="0"/>
                  </a:lnTo>
                  <a:close/>
                </a:path>
              </a:pathLst>
            </a:custGeom>
            <a:solidFill>
              <a:srgbClr val="006EAD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65"/>
                <a:buFont typeface="Arial" panose="020B0604020202020204"/>
                <a:buNone/>
              </a:pPr>
              <a:endParaRPr sz="12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8" name="Google Shape;98;p1">
              <a:extLst>
                <a:ext uri="{FF2B5EF4-FFF2-40B4-BE49-F238E27FC236}">
                  <a16:creationId xmlns:a16="http://schemas.microsoft.com/office/drawing/2014/main" id="{0EE280C3-75DF-E61E-C453-18B80AEA89F2}"/>
                </a:ext>
              </a:extLst>
            </p:cNvPr>
            <p:cNvSpPr/>
            <p:nvPr/>
          </p:nvSpPr>
          <p:spPr>
            <a:xfrm>
              <a:off x="5757299" y="9019181"/>
              <a:ext cx="11590655" cy="721995"/>
            </a:xfrm>
            <a:custGeom>
              <a:avLst/>
              <a:gdLst/>
              <a:ahLst/>
              <a:cxnLst/>
              <a:rect l="l" t="t" r="r" b="b"/>
              <a:pathLst>
                <a:path w="11590655" h="721995" extrusionOk="0">
                  <a:moveTo>
                    <a:pt x="11590369" y="0"/>
                  </a:moveTo>
                  <a:lnTo>
                    <a:pt x="0" y="0"/>
                  </a:lnTo>
                  <a:lnTo>
                    <a:pt x="0" y="721979"/>
                  </a:lnTo>
                  <a:lnTo>
                    <a:pt x="11590369" y="721979"/>
                  </a:lnTo>
                  <a:lnTo>
                    <a:pt x="11590369" y="0"/>
                  </a:lnTo>
                  <a:close/>
                </a:path>
              </a:pathLst>
            </a:custGeom>
            <a:solidFill>
              <a:srgbClr val="FFF4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65"/>
                <a:buFont typeface="Arial" panose="020B0604020202020204"/>
                <a:buNone/>
              </a:pPr>
              <a:endParaRPr sz="12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9" name="Google Shape;99;p1">
              <a:extLst>
                <a:ext uri="{FF2B5EF4-FFF2-40B4-BE49-F238E27FC236}">
                  <a16:creationId xmlns:a16="http://schemas.microsoft.com/office/drawing/2014/main" id="{4579D51D-B789-B8B5-C737-4FC20F1AAFBE}"/>
                </a:ext>
              </a:extLst>
            </p:cNvPr>
            <p:cNvSpPr/>
            <p:nvPr/>
          </p:nvSpPr>
          <p:spPr>
            <a:xfrm>
              <a:off x="-514" y="9019181"/>
              <a:ext cx="4516755" cy="721995"/>
            </a:xfrm>
            <a:custGeom>
              <a:avLst/>
              <a:gdLst/>
              <a:ahLst/>
              <a:cxnLst/>
              <a:rect l="l" t="t" r="r" b="b"/>
              <a:pathLst>
                <a:path w="4516755" h="721995" extrusionOk="0">
                  <a:moveTo>
                    <a:pt x="4516274" y="0"/>
                  </a:moveTo>
                  <a:lnTo>
                    <a:pt x="0" y="0"/>
                  </a:lnTo>
                  <a:lnTo>
                    <a:pt x="0" y="721979"/>
                  </a:lnTo>
                  <a:lnTo>
                    <a:pt x="4516274" y="721979"/>
                  </a:lnTo>
                  <a:lnTo>
                    <a:pt x="4516274" y="0"/>
                  </a:lnTo>
                  <a:close/>
                </a:path>
              </a:pathLst>
            </a:custGeom>
            <a:solidFill>
              <a:srgbClr val="006EAD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65"/>
                <a:buFont typeface="Arial" panose="020B0604020202020204"/>
                <a:buNone/>
              </a:pPr>
              <a:endParaRPr sz="12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CE3D42-29A3-8514-DCE7-0BC18E538F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0715" y="1240971"/>
            <a:ext cx="10883085" cy="4609554"/>
          </a:xfrm>
        </p:spPr>
        <p:txBody>
          <a:bodyPr>
            <a:normAutofit fontScale="97500"/>
          </a:bodyPr>
          <a:lstStyle/>
          <a:p>
            <a:pPr marL="0" indent="0">
              <a:buNone/>
            </a:pPr>
            <a:r>
              <a:rPr lang="en-IN" sz="2400" b="1" dirty="0"/>
              <a:t>Purpose</a:t>
            </a:r>
            <a:endParaRPr lang="en-IN" sz="2400" dirty="0"/>
          </a:p>
          <a:p>
            <a:r>
              <a:rPr lang="en-IN" sz="2400" dirty="0"/>
              <a:t>Retrieve purchase order data </a:t>
            </a:r>
          </a:p>
          <a:p>
            <a:pPr marL="0" indent="0">
              <a:buNone/>
            </a:pPr>
            <a:r>
              <a:rPr lang="en-IN" sz="2400" b="1" dirty="0"/>
              <a:t>Tables Used</a:t>
            </a:r>
            <a:endParaRPr lang="en-IN" sz="2400" dirty="0"/>
          </a:p>
          <a:p>
            <a:r>
              <a:rPr lang="en-IN" sz="2400" dirty="0"/>
              <a:t>EKKO, EKPO, EKET, LFA1 </a:t>
            </a:r>
          </a:p>
          <a:p>
            <a:pPr marL="0" indent="0">
              <a:buNone/>
            </a:pPr>
            <a:r>
              <a:rPr lang="en-IN" sz="2400" b="1" dirty="0"/>
              <a:t>Processing</a:t>
            </a:r>
            <a:endParaRPr lang="en-IN" sz="2400" dirty="0"/>
          </a:p>
          <a:p>
            <a:r>
              <a:rPr lang="en-IN" sz="2400" dirty="0"/>
              <a:t>Calculates open quantity and status </a:t>
            </a:r>
          </a:p>
          <a:p>
            <a:pPr marL="0" indent="0">
              <a:buNone/>
            </a:pPr>
            <a:r>
              <a:rPr lang="en-IN" sz="2400" b="1" dirty="0"/>
              <a:t>SUBMIT Usage</a:t>
            </a:r>
            <a:endParaRPr lang="en-IN" sz="2400" dirty="0"/>
          </a:p>
          <a:p>
            <a:r>
              <a:rPr lang="en-IN" sz="2400" dirty="0"/>
              <a:t>Calls standard report RM06EM00 </a:t>
            </a:r>
          </a:p>
          <a:p>
            <a:pPr marL="0" indent="0">
              <a:buNone/>
            </a:pPr>
            <a:r>
              <a:rPr lang="en-IN" sz="2400" b="1" dirty="0"/>
              <a:t>Navigation</a:t>
            </a:r>
            <a:endParaRPr lang="en-IN" sz="2400" dirty="0"/>
          </a:p>
          <a:p>
            <a:r>
              <a:rPr lang="en-IN" sz="2400" dirty="0"/>
              <a:t>Double-click → ME23N transaction</a:t>
            </a:r>
          </a:p>
        </p:txBody>
      </p:sp>
      <p:sp>
        <p:nvSpPr>
          <p:cNvPr id="101" name="Google Shape;101;p1">
            <a:extLst>
              <a:ext uri="{FF2B5EF4-FFF2-40B4-BE49-F238E27FC236}">
                <a16:creationId xmlns:a16="http://schemas.microsoft.com/office/drawing/2014/main" id="{EAF0FF85-CEE9-67DE-53DF-6757BD3206AE}"/>
              </a:ext>
            </a:extLst>
          </p:cNvPr>
          <p:cNvSpPr/>
          <p:nvPr/>
        </p:nvSpPr>
        <p:spPr>
          <a:xfrm>
            <a:off x="0" y="939742"/>
            <a:ext cx="12192000" cy="45719"/>
          </a:xfrm>
          <a:prstGeom prst="rect">
            <a:avLst/>
          </a:prstGeom>
          <a:solidFill>
            <a:srgbClr val="002060"/>
          </a:solidFill>
          <a:ln w="12700" cap="flat" cmpd="sng">
            <a:solidFill>
              <a:srgbClr val="00B0F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2" name="Picture 2" descr="SURE TRUST | LinkedIn">
            <a:extLst>
              <a:ext uri="{FF2B5EF4-FFF2-40B4-BE49-F238E27FC236}">
                <a16:creationId xmlns:a16="http://schemas.microsoft.com/office/drawing/2014/main" id="{E83A0F2C-78F0-49DF-57B9-6D3CEC727D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25000" y="109708"/>
            <a:ext cx="780465" cy="7804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Google Shape;102;p1">
            <a:extLst>
              <a:ext uri="{FF2B5EF4-FFF2-40B4-BE49-F238E27FC236}">
                <a16:creationId xmlns:a16="http://schemas.microsoft.com/office/drawing/2014/main" id="{F90C85E8-1987-38DF-B1F1-45AFFDD540DA}"/>
              </a:ext>
            </a:extLst>
          </p:cNvPr>
          <p:cNvSpPr txBox="1"/>
          <p:nvPr/>
        </p:nvSpPr>
        <p:spPr>
          <a:xfrm>
            <a:off x="770279" y="6423025"/>
            <a:ext cx="135808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IN" sz="1800" b="0" i="0" u="none" strike="noStrike" cap="none" dirty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SAP ABAP</a:t>
            </a:r>
            <a:endParaRPr sz="1800" b="0" i="0" u="none" strike="noStrike" cap="none" dirty="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" name="Google Shape;100;p1">
            <a:extLst>
              <a:ext uri="{FF2B5EF4-FFF2-40B4-BE49-F238E27FC236}">
                <a16:creationId xmlns:a16="http://schemas.microsoft.com/office/drawing/2014/main" id="{F40277A5-50BA-8F14-DB4A-5C505F2BA7C8}"/>
              </a:ext>
            </a:extLst>
          </p:cNvPr>
          <p:cNvSpPr txBox="1">
            <a:spLocks noGrp="1"/>
          </p:cNvSpPr>
          <p:nvPr>
            <p:ph type="ftr" sz="quarter" idx="11"/>
          </p:nvPr>
        </p:nvSpPr>
        <p:spPr>
          <a:xfrm>
            <a:off x="4038600" y="6423025"/>
            <a:ext cx="7172390" cy="335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8550" rIns="0" bIns="0" anchor="t" anchorCtr="0">
            <a:spAutoFit/>
          </a:bodyPr>
          <a:lstStyle/>
          <a:p>
            <a:pPr marR="0" indent="0" algn="ctr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6197600" algn="l"/>
              </a:tabLst>
            </a:pPr>
            <a:r>
              <a:rPr lang="en-US" altLang="en-US" sz="2000" dirty="0">
                <a:solidFill>
                  <a:schemeClr val="tx1"/>
                </a:solidFill>
                <a:ea typeface="Calibri" panose="020F0502020204030204" pitchFamily="34" charset="0"/>
                <a:cs typeface="+mn-lt"/>
                <a:sym typeface="+mn-ea"/>
              </a:rPr>
              <a:t>SURE Trust </a:t>
            </a:r>
            <a:endParaRPr sz="2000" i="0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8970BB2-51A9-CAAE-A62C-380228B25004}"/>
              </a:ext>
            </a:extLst>
          </p:cNvPr>
          <p:cNvSpPr/>
          <p:nvPr/>
        </p:nvSpPr>
        <p:spPr>
          <a:xfrm>
            <a:off x="2675922" y="-163932"/>
            <a:ext cx="6472669" cy="9863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4400" b="1" dirty="0">
                <a:solidFill>
                  <a:srgbClr val="2F559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SUBMIT (ME2M Report)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696DD7E-59D4-ADC1-D853-A0A3E3401EA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039" r="33656" b="47116"/>
          <a:stretch>
            <a:fillRect/>
          </a:stretch>
        </p:blipFill>
        <p:spPr>
          <a:xfrm>
            <a:off x="5133474" y="1531251"/>
            <a:ext cx="6569994" cy="2802525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BCC741D8-93D0-DFA7-0324-2E9485145E87}"/>
              </a:ext>
            </a:extLst>
          </p:cNvPr>
          <p:cNvSpPr/>
          <p:nvPr/>
        </p:nvSpPr>
        <p:spPr>
          <a:xfrm>
            <a:off x="8084432" y="5759637"/>
            <a:ext cx="2108270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0" cap="none" spc="0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Fig: ME2M Output</a:t>
            </a:r>
          </a:p>
        </p:txBody>
      </p:sp>
    </p:spTree>
    <p:extLst>
      <p:ext uri="{BB962C8B-B14F-4D97-AF65-F5344CB8AC3E}">
        <p14:creationId xmlns:p14="http://schemas.microsoft.com/office/powerpoint/2010/main" val="24321589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>
          <a:extLst>
            <a:ext uri="{FF2B5EF4-FFF2-40B4-BE49-F238E27FC236}">
              <a16:creationId xmlns:a16="http://schemas.microsoft.com/office/drawing/2014/main" id="{FA3175FE-A375-B7FB-B3CA-1612DFB903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" name="Google Shape;94;p1">
            <a:extLst>
              <a:ext uri="{FF2B5EF4-FFF2-40B4-BE49-F238E27FC236}">
                <a16:creationId xmlns:a16="http://schemas.microsoft.com/office/drawing/2014/main" id="{DA1807C2-3CC8-1D22-7694-A299DD70959F}"/>
              </a:ext>
            </a:extLst>
          </p:cNvPr>
          <p:cNvGrpSpPr/>
          <p:nvPr/>
        </p:nvGrpSpPr>
        <p:grpSpPr>
          <a:xfrm>
            <a:off x="0" y="6350596"/>
            <a:ext cx="12192188" cy="507405"/>
            <a:chOff x="-514" y="9019181"/>
            <a:chExt cx="17348468" cy="721995"/>
          </a:xfrm>
        </p:grpSpPr>
        <p:sp>
          <p:nvSpPr>
            <p:cNvPr id="96" name="Google Shape;96;p1">
              <a:extLst>
                <a:ext uri="{FF2B5EF4-FFF2-40B4-BE49-F238E27FC236}">
                  <a16:creationId xmlns:a16="http://schemas.microsoft.com/office/drawing/2014/main" id="{1C65AFFB-ADB2-488D-37D2-98C89CB1FC91}"/>
                </a:ext>
              </a:extLst>
            </p:cNvPr>
            <p:cNvSpPr/>
            <p:nvPr/>
          </p:nvSpPr>
          <p:spPr>
            <a:xfrm>
              <a:off x="5293059" y="9019181"/>
              <a:ext cx="1647825" cy="721995"/>
            </a:xfrm>
            <a:custGeom>
              <a:avLst/>
              <a:gdLst/>
              <a:ahLst/>
              <a:cxnLst/>
              <a:rect l="l" t="t" r="r" b="b"/>
              <a:pathLst>
                <a:path w="1647825" h="721995" extrusionOk="0">
                  <a:moveTo>
                    <a:pt x="1647578" y="0"/>
                  </a:moveTo>
                  <a:lnTo>
                    <a:pt x="357644" y="0"/>
                  </a:lnTo>
                  <a:lnTo>
                    <a:pt x="0" y="721979"/>
                  </a:lnTo>
                  <a:lnTo>
                    <a:pt x="1289933" y="721979"/>
                  </a:lnTo>
                  <a:lnTo>
                    <a:pt x="1647578" y="0"/>
                  </a:lnTo>
                  <a:close/>
                </a:path>
              </a:pathLst>
            </a:custGeom>
            <a:solidFill>
              <a:srgbClr val="FFF4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65"/>
                <a:buFont typeface="Arial" panose="020B0604020202020204"/>
                <a:buNone/>
              </a:pPr>
              <a:endParaRPr sz="12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7" name="Google Shape;97;p1">
              <a:extLst>
                <a:ext uri="{FF2B5EF4-FFF2-40B4-BE49-F238E27FC236}">
                  <a16:creationId xmlns:a16="http://schemas.microsoft.com/office/drawing/2014/main" id="{FF6F4797-0C4B-B268-EB7B-5167424534E3}"/>
                </a:ext>
              </a:extLst>
            </p:cNvPr>
            <p:cNvSpPr/>
            <p:nvPr/>
          </p:nvSpPr>
          <p:spPr>
            <a:xfrm>
              <a:off x="3260091" y="9019181"/>
              <a:ext cx="1647825" cy="721995"/>
            </a:xfrm>
            <a:custGeom>
              <a:avLst/>
              <a:gdLst/>
              <a:ahLst/>
              <a:cxnLst/>
              <a:rect l="l" t="t" r="r" b="b"/>
              <a:pathLst>
                <a:path w="1647825" h="721995" extrusionOk="0">
                  <a:moveTo>
                    <a:pt x="1647579" y="0"/>
                  </a:moveTo>
                  <a:lnTo>
                    <a:pt x="357645" y="0"/>
                  </a:lnTo>
                  <a:lnTo>
                    <a:pt x="0" y="721979"/>
                  </a:lnTo>
                  <a:lnTo>
                    <a:pt x="1289933" y="721979"/>
                  </a:lnTo>
                  <a:lnTo>
                    <a:pt x="1647579" y="0"/>
                  </a:lnTo>
                  <a:close/>
                </a:path>
              </a:pathLst>
            </a:custGeom>
            <a:solidFill>
              <a:srgbClr val="006EAD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65"/>
                <a:buFont typeface="Arial" panose="020B0604020202020204"/>
                <a:buNone/>
              </a:pPr>
              <a:endParaRPr sz="12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8" name="Google Shape;98;p1">
              <a:extLst>
                <a:ext uri="{FF2B5EF4-FFF2-40B4-BE49-F238E27FC236}">
                  <a16:creationId xmlns:a16="http://schemas.microsoft.com/office/drawing/2014/main" id="{404F27C5-3D39-9B76-F9FF-351C77016708}"/>
                </a:ext>
              </a:extLst>
            </p:cNvPr>
            <p:cNvSpPr/>
            <p:nvPr/>
          </p:nvSpPr>
          <p:spPr>
            <a:xfrm>
              <a:off x="5757299" y="9019181"/>
              <a:ext cx="11590655" cy="721995"/>
            </a:xfrm>
            <a:custGeom>
              <a:avLst/>
              <a:gdLst/>
              <a:ahLst/>
              <a:cxnLst/>
              <a:rect l="l" t="t" r="r" b="b"/>
              <a:pathLst>
                <a:path w="11590655" h="721995" extrusionOk="0">
                  <a:moveTo>
                    <a:pt x="11590369" y="0"/>
                  </a:moveTo>
                  <a:lnTo>
                    <a:pt x="0" y="0"/>
                  </a:lnTo>
                  <a:lnTo>
                    <a:pt x="0" y="721979"/>
                  </a:lnTo>
                  <a:lnTo>
                    <a:pt x="11590369" y="721979"/>
                  </a:lnTo>
                  <a:lnTo>
                    <a:pt x="11590369" y="0"/>
                  </a:lnTo>
                  <a:close/>
                </a:path>
              </a:pathLst>
            </a:custGeom>
            <a:solidFill>
              <a:srgbClr val="FFF4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65"/>
                <a:buFont typeface="Arial" panose="020B0604020202020204"/>
                <a:buNone/>
              </a:pPr>
              <a:endParaRPr sz="12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9" name="Google Shape;99;p1">
              <a:extLst>
                <a:ext uri="{FF2B5EF4-FFF2-40B4-BE49-F238E27FC236}">
                  <a16:creationId xmlns:a16="http://schemas.microsoft.com/office/drawing/2014/main" id="{175C621D-F133-53D0-12E0-E83DE51A3D4A}"/>
                </a:ext>
              </a:extLst>
            </p:cNvPr>
            <p:cNvSpPr/>
            <p:nvPr/>
          </p:nvSpPr>
          <p:spPr>
            <a:xfrm>
              <a:off x="-514" y="9019181"/>
              <a:ext cx="4516755" cy="721995"/>
            </a:xfrm>
            <a:custGeom>
              <a:avLst/>
              <a:gdLst/>
              <a:ahLst/>
              <a:cxnLst/>
              <a:rect l="l" t="t" r="r" b="b"/>
              <a:pathLst>
                <a:path w="4516755" h="721995" extrusionOk="0">
                  <a:moveTo>
                    <a:pt x="4516274" y="0"/>
                  </a:moveTo>
                  <a:lnTo>
                    <a:pt x="0" y="0"/>
                  </a:lnTo>
                  <a:lnTo>
                    <a:pt x="0" y="721979"/>
                  </a:lnTo>
                  <a:lnTo>
                    <a:pt x="4516274" y="721979"/>
                  </a:lnTo>
                  <a:lnTo>
                    <a:pt x="4516274" y="0"/>
                  </a:lnTo>
                  <a:close/>
                </a:path>
              </a:pathLst>
            </a:custGeom>
            <a:solidFill>
              <a:srgbClr val="006EAD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65"/>
                <a:buFont typeface="Arial" panose="020B0604020202020204"/>
                <a:buNone/>
              </a:pPr>
              <a:endParaRPr sz="12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A4D2F7-C28D-79BB-4039-ACB15C9819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0715" y="1240971"/>
            <a:ext cx="10883085" cy="4609554"/>
          </a:xfrm>
        </p:spPr>
        <p:txBody>
          <a:bodyPr>
            <a:normAutofit fontScale="97500"/>
          </a:bodyPr>
          <a:lstStyle/>
          <a:p>
            <a:pPr marL="0" indent="0">
              <a:buNone/>
            </a:pPr>
            <a:r>
              <a:rPr lang="en-US" sz="2500" b="1" dirty="0"/>
              <a:t>Data Source</a:t>
            </a:r>
            <a:endParaRPr lang="en-US" sz="2500" dirty="0"/>
          </a:p>
          <a:p>
            <a:r>
              <a:rPr lang="en-US" sz="2500" dirty="0"/>
              <a:t>BUT000 (Business Partner Table) </a:t>
            </a:r>
          </a:p>
          <a:p>
            <a:pPr marL="0" indent="0">
              <a:buNone/>
            </a:pPr>
            <a:r>
              <a:rPr lang="en-US" sz="2500" b="1" dirty="0"/>
              <a:t>Form Design</a:t>
            </a:r>
            <a:endParaRPr lang="en-US" sz="2500" dirty="0"/>
          </a:p>
          <a:p>
            <a:r>
              <a:rPr lang="en-US" sz="2500" dirty="0"/>
              <a:t>Created using Smart Form Builder </a:t>
            </a:r>
          </a:p>
          <a:p>
            <a:pPr marL="0" indent="0">
              <a:buNone/>
            </a:pPr>
            <a:r>
              <a:rPr lang="en-US" sz="2500" b="1" dirty="0"/>
              <a:t>Driver Program</a:t>
            </a:r>
            <a:endParaRPr lang="en-US" sz="2500" dirty="0"/>
          </a:p>
          <a:p>
            <a:r>
              <a:rPr lang="en-US" sz="2500" dirty="0"/>
              <a:t>Fetches and passes data to form </a:t>
            </a:r>
          </a:p>
          <a:p>
            <a:pPr marL="0" indent="0">
              <a:buNone/>
            </a:pPr>
            <a:r>
              <a:rPr lang="en-US" sz="2500" b="1" dirty="0"/>
              <a:t>Function Module</a:t>
            </a:r>
            <a:endParaRPr lang="en-US" sz="2500" dirty="0"/>
          </a:p>
          <a:p>
            <a:r>
              <a:rPr lang="en-US" sz="2500" dirty="0"/>
              <a:t>SSF_FUNCTION_MODULE_NAME used </a:t>
            </a:r>
          </a:p>
          <a:p>
            <a:pPr marL="0" indent="0">
              <a:buNone/>
            </a:pPr>
            <a:r>
              <a:rPr lang="en-US" sz="2500" b="1" dirty="0"/>
              <a:t>Output</a:t>
            </a:r>
            <a:endParaRPr lang="en-US" sz="2500" dirty="0"/>
          </a:p>
          <a:p>
            <a:r>
              <a:rPr lang="en-US" sz="2500" dirty="0"/>
              <a:t>Structured and professional document display</a:t>
            </a:r>
          </a:p>
          <a:p>
            <a:pPr lvl="1" algn="just" fontAlgn="base">
              <a:lnSpc>
                <a:spcPct val="150000"/>
              </a:lnSpc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1" name="Google Shape;101;p1">
            <a:extLst>
              <a:ext uri="{FF2B5EF4-FFF2-40B4-BE49-F238E27FC236}">
                <a16:creationId xmlns:a16="http://schemas.microsoft.com/office/drawing/2014/main" id="{031109DA-6741-E8A6-6EF3-E28C7D996D95}"/>
              </a:ext>
            </a:extLst>
          </p:cNvPr>
          <p:cNvSpPr/>
          <p:nvPr/>
        </p:nvSpPr>
        <p:spPr>
          <a:xfrm>
            <a:off x="0" y="965285"/>
            <a:ext cx="12192000" cy="45719"/>
          </a:xfrm>
          <a:prstGeom prst="rect">
            <a:avLst/>
          </a:prstGeom>
          <a:solidFill>
            <a:srgbClr val="002060"/>
          </a:solidFill>
          <a:ln w="12700" cap="flat" cmpd="sng">
            <a:solidFill>
              <a:srgbClr val="00B0F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2" name="Picture 2" descr="SURE TRUST | LinkedIn">
            <a:extLst>
              <a:ext uri="{FF2B5EF4-FFF2-40B4-BE49-F238E27FC236}">
                <a16:creationId xmlns:a16="http://schemas.microsoft.com/office/drawing/2014/main" id="{B7629F0A-144A-D730-FD4E-6D5C7D0515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25000" y="109708"/>
            <a:ext cx="780465" cy="7804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Google Shape;102;p1">
            <a:extLst>
              <a:ext uri="{FF2B5EF4-FFF2-40B4-BE49-F238E27FC236}">
                <a16:creationId xmlns:a16="http://schemas.microsoft.com/office/drawing/2014/main" id="{173679F1-5546-C5FB-5631-6E33FE85BAFC}"/>
              </a:ext>
            </a:extLst>
          </p:cNvPr>
          <p:cNvSpPr txBox="1"/>
          <p:nvPr/>
        </p:nvSpPr>
        <p:spPr>
          <a:xfrm>
            <a:off x="770279" y="6423025"/>
            <a:ext cx="135808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IN" sz="1800" b="0" i="0" u="none" strike="noStrike" cap="none" dirty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SAP ABAP</a:t>
            </a:r>
            <a:endParaRPr sz="1800" b="0" i="0" u="none" strike="noStrike" cap="none" dirty="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" name="Google Shape;100;p1">
            <a:extLst>
              <a:ext uri="{FF2B5EF4-FFF2-40B4-BE49-F238E27FC236}">
                <a16:creationId xmlns:a16="http://schemas.microsoft.com/office/drawing/2014/main" id="{8C35D944-6047-7AC0-6EFD-456EA37CDE51}"/>
              </a:ext>
            </a:extLst>
          </p:cNvPr>
          <p:cNvSpPr txBox="1">
            <a:spLocks noGrp="1"/>
          </p:cNvSpPr>
          <p:nvPr>
            <p:ph type="ftr" sz="quarter" idx="11"/>
          </p:nvPr>
        </p:nvSpPr>
        <p:spPr>
          <a:xfrm>
            <a:off x="4038600" y="6423025"/>
            <a:ext cx="7172390" cy="335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8550" rIns="0" bIns="0" anchor="t" anchorCtr="0">
            <a:spAutoFit/>
          </a:bodyPr>
          <a:lstStyle/>
          <a:p>
            <a:pPr marR="0" indent="0" algn="ctr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6197600" algn="l"/>
              </a:tabLst>
            </a:pPr>
            <a:r>
              <a:rPr lang="en-US" altLang="en-US" sz="2000" dirty="0">
                <a:solidFill>
                  <a:schemeClr val="tx1"/>
                </a:solidFill>
                <a:ea typeface="Calibri" panose="020F0502020204030204" pitchFamily="34" charset="0"/>
                <a:cs typeface="+mn-lt"/>
                <a:sym typeface="+mn-ea"/>
              </a:rPr>
              <a:t>SURE Trust </a:t>
            </a:r>
            <a:endParaRPr sz="2000" i="0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7F009B-32DD-B95E-673D-43001486C636}"/>
              </a:ext>
            </a:extLst>
          </p:cNvPr>
          <p:cNvSpPr/>
          <p:nvPr/>
        </p:nvSpPr>
        <p:spPr>
          <a:xfrm>
            <a:off x="2267067" y="-89417"/>
            <a:ext cx="7657866" cy="106760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4800" b="1" dirty="0" err="1">
                <a:solidFill>
                  <a:srgbClr val="2F559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SmartForm</a:t>
            </a:r>
            <a:r>
              <a:rPr lang="en-IN" sz="4800" b="1" dirty="0">
                <a:solidFill>
                  <a:srgbClr val="2F559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Implementation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203D770-5B08-3612-998E-5C78946BC8AF}"/>
              </a:ext>
            </a:extLst>
          </p:cNvPr>
          <p:cNvSpPr/>
          <p:nvPr/>
        </p:nvSpPr>
        <p:spPr>
          <a:xfrm>
            <a:off x="8155187" y="5745895"/>
            <a:ext cx="2540504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0" cap="none" spc="0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Fig: </a:t>
            </a:r>
            <a:r>
              <a:rPr lang="en-US" sz="2000" b="0" cap="none" spc="0" dirty="0" err="1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Smartform</a:t>
            </a:r>
            <a:r>
              <a:rPr lang="en-US" sz="2000" b="0" cap="none" spc="0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Output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CCD01C7-9334-4645-540A-8EAED3B861E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307081" y="1182037"/>
            <a:ext cx="4598384" cy="4285715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6652217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>
          <a:extLst>
            <a:ext uri="{FF2B5EF4-FFF2-40B4-BE49-F238E27FC236}">
              <a16:creationId xmlns:a16="http://schemas.microsoft.com/office/drawing/2014/main" id="{AF47F760-FA2D-9D65-D8DA-FC0F43DE5B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" name="Google Shape;94;p1">
            <a:extLst>
              <a:ext uri="{FF2B5EF4-FFF2-40B4-BE49-F238E27FC236}">
                <a16:creationId xmlns:a16="http://schemas.microsoft.com/office/drawing/2014/main" id="{0B2D8C6D-CC06-A1BD-C34C-FF0FA981B25A}"/>
              </a:ext>
            </a:extLst>
          </p:cNvPr>
          <p:cNvGrpSpPr/>
          <p:nvPr/>
        </p:nvGrpSpPr>
        <p:grpSpPr>
          <a:xfrm>
            <a:off x="0" y="6350596"/>
            <a:ext cx="12192188" cy="507405"/>
            <a:chOff x="-514" y="9019181"/>
            <a:chExt cx="17348468" cy="721995"/>
          </a:xfrm>
        </p:grpSpPr>
        <p:sp>
          <p:nvSpPr>
            <p:cNvPr id="96" name="Google Shape;96;p1">
              <a:extLst>
                <a:ext uri="{FF2B5EF4-FFF2-40B4-BE49-F238E27FC236}">
                  <a16:creationId xmlns:a16="http://schemas.microsoft.com/office/drawing/2014/main" id="{CE204C94-CC74-013A-762D-C2975C894F42}"/>
                </a:ext>
              </a:extLst>
            </p:cNvPr>
            <p:cNvSpPr/>
            <p:nvPr/>
          </p:nvSpPr>
          <p:spPr>
            <a:xfrm>
              <a:off x="5293059" y="9019181"/>
              <a:ext cx="1647825" cy="721995"/>
            </a:xfrm>
            <a:custGeom>
              <a:avLst/>
              <a:gdLst/>
              <a:ahLst/>
              <a:cxnLst/>
              <a:rect l="l" t="t" r="r" b="b"/>
              <a:pathLst>
                <a:path w="1647825" h="721995" extrusionOk="0">
                  <a:moveTo>
                    <a:pt x="1647578" y="0"/>
                  </a:moveTo>
                  <a:lnTo>
                    <a:pt x="357644" y="0"/>
                  </a:lnTo>
                  <a:lnTo>
                    <a:pt x="0" y="721979"/>
                  </a:lnTo>
                  <a:lnTo>
                    <a:pt x="1289933" y="721979"/>
                  </a:lnTo>
                  <a:lnTo>
                    <a:pt x="1647578" y="0"/>
                  </a:lnTo>
                  <a:close/>
                </a:path>
              </a:pathLst>
            </a:custGeom>
            <a:solidFill>
              <a:srgbClr val="FFF4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65"/>
                <a:buFont typeface="Arial" panose="020B0604020202020204"/>
                <a:buNone/>
              </a:pPr>
              <a:endParaRPr sz="12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7" name="Google Shape;97;p1">
              <a:extLst>
                <a:ext uri="{FF2B5EF4-FFF2-40B4-BE49-F238E27FC236}">
                  <a16:creationId xmlns:a16="http://schemas.microsoft.com/office/drawing/2014/main" id="{C643A6B8-718F-3E87-8DDA-0AF5D0A30623}"/>
                </a:ext>
              </a:extLst>
            </p:cNvPr>
            <p:cNvSpPr/>
            <p:nvPr/>
          </p:nvSpPr>
          <p:spPr>
            <a:xfrm>
              <a:off x="3260091" y="9019181"/>
              <a:ext cx="1647825" cy="721995"/>
            </a:xfrm>
            <a:custGeom>
              <a:avLst/>
              <a:gdLst/>
              <a:ahLst/>
              <a:cxnLst/>
              <a:rect l="l" t="t" r="r" b="b"/>
              <a:pathLst>
                <a:path w="1647825" h="721995" extrusionOk="0">
                  <a:moveTo>
                    <a:pt x="1647579" y="0"/>
                  </a:moveTo>
                  <a:lnTo>
                    <a:pt x="357645" y="0"/>
                  </a:lnTo>
                  <a:lnTo>
                    <a:pt x="0" y="721979"/>
                  </a:lnTo>
                  <a:lnTo>
                    <a:pt x="1289933" y="721979"/>
                  </a:lnTo>
                  <a:lnTo>
                    <a:pt x="1647579" y="0"/>
                  </a:lnTo>
                  <a:close/>
                </a:path>
              </a:pathLst>
            </a:custGeom>
            <a:solidFill>
              <a:srgbClr val="006EAD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65"/>
                <a:buFont typeface="Arial" panose="020B0604020202020204"/>
                <a:buNone/>
              </a:pPr>
              <a:endParaRPr sz="12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8" name="Google Shape;98;p1">
              <a:extLst>
                <a:ext uri="{FF2B5EF4-FFF2-40B4-BE49-F238E27FC236}">
                  <a16:creationId xmlns:a16="http://schemas.microsoft.com/office/drawing/2014/main" id="{B61C9929-D41E-0410-37EC-429045A31285}"/>
                </a:ext>
              </a:extLst>
            </p:cNvPr>
            <p:cNvSpPr/>
            <p:nvPr/>
          </p:nvSpPr>
          <p:spPr>
            <a:xfrm>
              <a:off x="5757299" y="9019181"/>
              <a:ext cx="11590655" cy="721995"/>
            </a:xfrm>
            <a:custGeom>
              <a:avLst/>
              <a:gdLst/>
              <a:ahLst/>
              <a:cxnLst/>
              <a:rect l="l" t="t" r="r" b="b"/>
              <a:pathLst>
                <a:path w="11590655" h="721995" extrusionOk="0">
                  <a:moveTo>
                    <a:pt x="11590369" y="0"/>
                  </a:moveTo>
                  <a:lnTo>
                    <a:pt x="0" y="0"/>
                  </a:lnTo>
                  <a:lnTo>
                    <a:pt x="0" y="721979"/>
                  </a:lnTo>
                  <a:lnTo>
                    <a:pt x="11590369" y="721979"/>
                  </a:lnTo>
                  <a:lnTo>
                    <a:pt x="11590369" y="0"/>
                  </a:lnTo>
                  <a:close/>
                </a:path>
              </a:pathLst>
            </a:custGeom>
            <a:solidFill>
              <a:srgbClr val="FFF4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65"/>
                <a:buFont typeface="Arial" panose="020B0604020202020204"/>
                <a:buNone/>
              </a:pPr>
              <a:endParaRPr sz="12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9" name="Google Shape;99;p1">
              <a:extLst>
                <a:ext uri="{FF2B5EF4-FFF2-40B4-BE49-F238E27FC236}">
                  <a16:creationId xmlns:a16="http://schemas.microsoft.com/office/drawing/2014/main" id="{477C1B9E-570A-AEC7-CED9-08D4808F88E5}"/>
                </a:ext>
              </a:extLst>
            </p:cNvPr>
            <p:cNvSpPr/>
            <p:nvPr/>
          </p:nvSpPr>
          <p:spPr>
            <a:xfrm>
              <a:off x="-514" y="9019181"/>
              <a:ext cx="4516755" cy="721995"/>
            </a:xfrm>
            <a:custGeom>
              <a:avLst/>
              <a:gdLst/>
              <a:ahLst/>
              <a:cxnLst/>
              <a:rect l="l" t="t" r="r" b="b"/>
              <a:pathLst>
                <a:path w="4516755" h="721995" extrusionOk="0">
                  <a:moveTo>
                    <a:pt x="4516274" y="0"/>
                  </a:moveTo>
                  <a:lnTo>
                    <a:pt x="0" y="0"/>
                  </a:lnTo>
                  <a:lnTo>
                    <a:pt x="0" y="721979"/>
                  </a:lnTo>
                  <a:lnTo>
                    <a:pt x="4516274" y="721979"/>
                  </a:lnTo>
                  <a:lnTo>
                    <a:pt x="4516274" y="0"/>
                  </a:lnTo>
                  <a:close/>
                </a:path>
              </a:pathLst>
            </a:custGeom>
            <a:solidFill>
              <a:srgbClr val="006EAD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65"/>
                <a:buFont typeface="Arial" panose="020B0604020202020204"/>
                <a:buNone/>
              </a:pPr>
              <a:endParaRPr sz="12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95E0AB-2BE3-0CB1-200D-AF98A25AE1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0715" y="1240971"/>
            <a:ext cx="10883085" cy="4609554"/>
          </a:xfrm>
        </p:spPr>
        <p:txBody>
          <a:bodyPr>
            <a:normAutofit fontScale="97500"/>
          </a:bodyPr>
          <a:lstStyle/>
          <a:p>
            <a:pPr marL="0" indent="0">
              <a:buNone/>
            </a:pPr>
            <a:r>
              <a:rPr lang="en-US" sz="2400" b="1" dirty="0"/>
              <a:t>ALV Output</a:t>
            </a:r>
            <a:endParaRPr lang="en-US" sz="2400" dirty="0"/>
          </a:p>
          <a:p>
            <a:r>
              <a:rPr lang="en-US" sz="2400" dirty="0"/>
              <a:t>Structured material data display </a:t>
            </a:r>
          </a:p>
          <a:p>
            <a:pPr marL="0" indent="0">
              <a:buNone/>
            </a:pPr>
            <a:r>
              <a:rPr lang="en-US" sz="2400" b="1" dirty="0"/>
              <a:t>Excel Output</a:t>
            </a:r>
            <a:endParaRPr lang="en-US" sz="2400" dirty="0"/>
          </a:p>
          <a:p>
            <a:r>
              <a:rPr lang="en-US" sz="2400" dirty="0"/>
              <a:t>Data exported successfully </a:t>
            </a:r>
          </a:p>
          <a:p>
            <a:pPr marL="0" indent="0">
              <a:buNone/>
            </a:pPr>
            <a:r>
              <a:rPr lang="en-US" sz="2400" b="1" dirty="0"/>
              <a:t>Smart Form Output</a:t>
            </a:r>
            <a:endParaRPr lang="en-US" sz="2400" dirty="0"/>
          </a:p>
          <a:p>
            <a:r>
              <a:rPr lang="en-US" sz="2400" dirty="0"/>
              <a:t>Professional formatted document </a:t>
            </a:r>
          </a:p>
          <a:p>
            <a:pPr marL="0" indent="0">
              <a:buNone/>
            </a:pPr>
            <a:r>
              <a:rPr lang="en-US" sz="2400" b="1" dirty="0"/>
              <a:t>Integration Result</a:t>
            </a:r>
            <a:endParaRPr lang="en-US" sz="2400" dirty="0"/>
          </a:p>
          <a:p>
            <a:r>
              <a:rPr lang="en-US" sz="2400" dirty="0"/>
              <a:t>Successful SUBMIT execution</a:t>
            </a:r>
          </a:p>
        </p:txBody>
      </p:sp>
      <p:sp>
        <p:nvSpPr>
          <p:cNvPr id="101" name="Google Shape;101;p1">
            <a:extLst>
              <a:ext uri="{FF2B5EF4-FFF2-40B4-BE49-F238E27FC236}">
                <a16:creationId xmlns:a16="http://schemas.microsoft.com/office/drawing/2014/main" id="{8BDC67D1-9A77-CD10-60B8-7BBCFC04D21D}"/>
              </a:ext>
            </a:extLst>
          </p:cNvPr>
          <p:cNvSpPr/>
          <p:nvPr/>
        </p:nvSpPr>
        <p:spPr>
          <a:xfrm>
            <a:off x="0" y="939742"/>
            <a:ext cx="12192000" cy="45719"/>
          </a:xfrm>
          <a:prstGeom prst="rect">
            <a:avLst/>
          </a:prstGeom>
          <a:solidFill>
            <a:srgbClr val="002060"/>
          </a:solidFill>
          <a:ln w="12700" cap="flat" cmpd="sng">
            <a:solidFill>
              <a:srgbClr val="00B0F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2" name="Picture 2" descr="SURE TRUST | LinkedIn">
            <a:extLst>
              <a:ext uri="{FF2B5EF4-FFF2-40B4-BE49-F238E27FC236}">
                <a16:creationId xmlns:a16="http://schemas.microsoft.com/office/drawing/2014/main" id="{8CB5A208-1331-D60D-49B6-171BDE9DDD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25000" y="109708"/>
            <a:ext cx="780465" cy="7804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Google Shape;102;p1">
            <a:extLst>
              <a:ext uri="{FF2B5EF4-FFF2-40B4-BE49-F238E27FC236}">
                <a16:creationId xmlns:a16="http://schemas.microsoft.com/office/drawing/2014/main" id="{FFBB30B3-C6DD-7D12-F70D-1FCEDBC170EF}"/>
              </a:ext>
            </a:extLst>
          </p:cNvPr>
          <p:cNvSpPr txBox="1"/>
          <p:nvPr/>
        </p:nvSpPr>
        <p:spPr>
          <a:xfrm>
            <a:off x="770279" y="6423025"/>
            <a:ext cx="135808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IN" sz="1800" b="0" i="0" u="none" strike="noStrike" cap="none" dirty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SAP ABAP</a:t>
            </a:r>
            <a:endParaRPr sz="1800" b="0" i="0" u="none" strike="noStrike" cap="none" dirty="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" name="Google Shape;100;p1">
            <a:extLst>
              <a:ext uri="{FF2B5EF4-FFF2-40B4-BE49-F238E27FC236}">
                <a16:creationId xmlns:a16="http://schemas.microsoft.com/office/drawing/2014/main" id="{AF65AED1-08EC-0E22-7CCC-7264549E6782}"/>
              </a:ext>
            </a:extLst>
          </p:cNvPr>
          <p:cNvSpPr txBox="1">
            <a:spLocks noGrp="1"/>
          </p:cNvSpPr>
          <p:nvPr>
            <p:ph type="ftr" sz="quarter" idx="11"/>
          </p:nvPr>
        </p:nvSpPr>
        <p:spPr>
          <a:xfrm>
            <a:off x="4038600" y="6423025"/>
            <a:ext cx="7172390" cy="335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8550" rIns="0" bIns="0" anchor="t" anchorCtr="0">
            <a:spAutoFit/>
          </a:bodyPr>
          <a:lstStyle/>
          <a:p>
            <a:pPr marR="0" indent="0" algn="ctr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6197600" algn="l"/>
              </a:tabLst>
            </a:pPr>
            <a:r>
              <a:rPr lang="en-US" altLang="en-US" sz="2000" dirty="0">
                <a:solidFill>
                  <a:schemeClr val="tx1"/>
                </a:solidFill>
                <a:ea typeface="Calibri" panose="020F0502020204030204" pitchFamily="34" charset="0"/>
                <a:cs typeface="+mn-lt"/>
                <a:sym typeface="+mn-ea"/>
              </a:rPr>
              <a:t>SURE Trust </a:t>
            </a:r>
            <a:endParaRPr sz="2000" i="0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6C393C8-E439-6DB4-798D-F8B2BA8C888F}"/>
              </a:ext>
            </a:extLst>
          </p:cNvPr>
          <p:cNvSpPr/>
          <p:nvPr/>
        </p:nvSpPr>
        <p:spPr>
          <a:xfrm>
            <a:off x="4942279" y="-174373"/>
            <a:ext cx="1939955" cy="9863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4400" b="1" dirty="0">
                <a:solidFill>
                  <a:srgbClr val="2F559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</p:spTree>
    <p:extLst>
      <p:ext uri="{BB962C8B-B14F-4D97-AF65-F5344CB8AC3E}">
        <p14:creationId xmlns:p14="http://schemas.microsoft.com/office/powerpoint/2010/main" val="152313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>
          <a:extLst>
            <a:ext uri="{FF2B5EF4-FFF2-40B4-BE49-F238E27FC236}">
              <a16:creationId xmlns:a16="http://schemas.microsoft.com/office/drawing/2014/main" id="{44059098-92DA-AA35-CCC6-44FA56C62F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" name="Google Shape;94;p1">
            <a:extLst>
              <a:ext uri="{FF2B5EF4-FFF2-40B4-BE49-F238E27FC236}">
                <a16:creationId xmlns:a16="http://schemas.microsoft.com/office/drawing/2014/main" id="{D21D8A73-9320-BBDA-E201-6ED7A89B0A3C}"/>
              </a:ext>
            </a:extLst>
          </p:cNvPr>
          <p:cNvGrpSpPr/>
          <p:nvPr/>
        </p:nvGrpSpPr>
        <p:grpSpPr>
          <a:xfrm>
            <a:off x="0" y="6350596"/>
            <a:ext cx="12192188" cy="507405"/>
            <a:chOff x="-514" y="9019181"/>
            <a:chExt cx="17348468" cy="721995"/>
          </a:xfrm>
        </p:grpSpPr>
        <p:sp>
          <p:nvSpPr>
            <p:cNvPr id="96" name="Google Shape;96;p1">
              <a:extLst>
                <a:ext uri="{FF2B5EF4-FFF2-40B4-BE49-F238E27FC236}">
                  <a16:creationId xmlns:a16="http://schemas.microsoft.com/office/drawing/2014/main" id="{0782481D-61E2-75EC-4ACC-84A0796FF474}"/>
                </a:ext>
              </a:extLst>
            </p:cNvPr>
            <p:cNvSpPr/>
            <p:nvPr/>
          </p:nvSpPr>
          <p:spPr>
            <a:xfrm>
              <a:off x="5293059" y="9019181"/>
              <a:ext cx="1647825" cy="721995"/>
            </a:xfrm>
            <a:custGeom>
              <a:avLst/>
              <a:gdLst/>
              <a:ahLst/>
              <a:cxnLst/>
              <a:rect l="l" t="t" r="r" b="b"/>
              <a:pathLst>
                <a:path w="1647825" h="721995" extrusionOk="0">
                  <a:moveTo>
                    <a:pt x="1647578" y="0"/>
                  </a:moveTo>
                  <a:lnTo>
                    <a:pt x="357644" y="0"/>
                  </a:lnTo>
                  <a:lnTo>
                    <a:pt x="0" y="721979"/>
                  </a:lnTo>
                  <a:lnTo>
                    <a:pt x="1289933" y="721979"/>
                  </a:lnTo>
                  <a:lnTo>
                    <a:pt x="1647578" y="0"/>
                  </a:lnTo>
                  <a:close/>
                </a:path>
              </a:pathLst>
            </a:custGeom>
            <a:solidFill>
              <a:srgbClr val="FFF4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65"/>
                <a:buFont typeface="Arial" panose="020B0604020202020204"/>
                <a:buNone/>
              </a:pPr>
              <a:endParaRPr sz="12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7" name="Google Shape;97;p1">
              <a:extLst>
                <a:ext uri="{FF2B5EF4-FFF2-40B4-BE49-F238E27FC236}">
                  <a16:creationId xmlns:a16="http://schemas.microsoft.com/office/drawing/2014/main" id="{C2DF4997-09DE-886E-A949-7EFE1F886B17}"/>
                </a:ext>
              </a:extLst>
            </p:cNvPr>
            <p:cNvSpPr/>
            <p:nvPr/>
          </p:nvSpPr>
          <p:spPr>
            <a:xfrm>
              <a:off x="3260091" y="9019181"/>
              <a:ext cx="1647825" cy="721995"/>
            </a:xfrm>
            <a:custGeom>
              <a:avLst/>
              <a:gdLst/>
              <a:ahLst/>
              <a:cxnLst/>
              <a:rect l="l" t="t" r="r" b="b"/>
              <a:pathLst>
                <a:path w="1647825" h="721995" extrusionOk="0">
                  <a:moveTo>
                    <a:pt x="1647579" y="0"/>
                  </a:moveTo>
                  <a:lnTo>
                    <a:pt x="357645" y="0"/>
                  </a:lnTo>
                  <a:lnTo>
                    <a:pt x="0" y="721979"/>
                  </a:lnTo>
                  <a:lnTo>
                    <a:pt x="1289933" y="721979"/>
                  </a:lnTo>
                  <a:lnTo>
                    <a:pt x="1647579" y="0"/>
                  </a:lnTo>
                  <a:close/>
                </a:path>
              </a:pathLst>
            </a:custGeom>
            <a:solidFill>
              <a:srgbClr val="006EAD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65"/>
                <a:buFont typeface="Arial" panose="020B0604020202020204"/>
                <a:buNone/>
              </a:pPr>
              <a:endParaRPr sz="12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8" name="Google Shape;98;p1">
              <a:extLst>
                <a:ext uri="{FF2B5EF4-FFF2-40B4-BE49-F238E27FC236}">
                  <a16:creationId xmlns:a16="http://schemas.microsoft.com/office/drawing/2014/main" id="{C38A02F6-E196-CCAF-5E0E-01BAD06F7BF6}"/>
                </a:ext>
              </a:extLst>
            </p:cNvPr>
            <p:cNvSpPr/>
            <p:nvPr/>
          </p:nvSpPr>
          <p:spPr>
            <a:xfrm>
              <a:off x="5757299" y="9019181"/>
              <a:ext cx="11590655" cy="721995"/>
            </a:xfrm>
            <a:custGeom>
              <a:avLst/>
              <a:gdLst/>
              <a:ahLst/>
              <a:cxnLst/>
              <a:rect l="l" t="t" r="r" b="b"/>
              <a:pathLst>
                <a:path w="11590655" h="721995" extrusionOk="0">
                  <a:moveTo>
                    <a:pt x="11590369" y="0"/>
                  </a:moveTo>
                  <a:lnTo>
                    <a:pt x="0" y="0"/>
                  </a:lnTo>
                  <a:lnTo>
                    <a:pt x="0" y="721979"/>
                  </a:lnTo>
                  <a:lnTo>
                    <a:pt x="11590369" y="721979"/>
                  </a:lnTo>
                  <a:lnTo>
                    <a:pt x="11590369" y="0"/>
                  </a:lnTo>
                  <a:close/>
                </a:path>
              </a:pathLst>
            </a:custGeom>
            <a:solidFill>
              <a:srgbClr val="FFF4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65"/>
                <a:buFont typeface="Arial" panose="020B0604020202020204"/>
                <a:buNone/>
              </a:pPr>
              <a:endParaRPr sz="12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9" name="Google Shape;99;p1">
              <a:extLst>
                <a:ext uri="{FF2B5EF4-FFF2-40B4-BE49-F238E27FC236}">
                  <a16:creationId xmlns:a16="http://schemas.microsoft.com/office/drawing/2014/main" id="{9B3E3595-ACE5-451B-3B79-479FA80C393B}"/>
                </a:ext>
              </a:extLst>
            </p:cNvPr>
            <p:cNvSpPr/>
            <p:nvPr/>
          </p:nvSpPr>
          <p:spPr>
            <a:xfrm>
              <a:off x="-514" y="9019181"/>
              <a:ext cx="4516755" cy="721995"/>
            </a:xfrm>
            <a:custGeom>
              <a:avLst/>
              <a:gdLst/>
              <a:ahLst/>
              <a:cxnLst/>
              <a:rect l="l" t="t" r="r" b="b"/>
              <a:pathLst>
                <a:path w="4516755" h="721995" extrusionOk="0">
                  <a:moveTo>
                    <a:pt x="4516274" y="0"/>
                  </a:moveTo>
                  <a:lnTo>
                    <a:pt x="0" y="0"/>
                  </a:lnTo>
                  <a:lnTo>
                    <a:pt x="0" y="721979"/>
                  </a:lnTo>
                  <a:lnTo>
                    <a:pt x="4516274" y="721979"/>
                  </a:lnTo>
                  <a:lnTo>
                    <a:pt x="4516274" y="0"/>
                  </a:lnTo>
                  <a:close/>
                </a:path>
              </a:pathLst>
            </a:custGeom>
            <a:solidFill>
              <a:srgbClr val="006EAD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65"/>
                <a:buFont typeface="Arial" panose="020B0604020202020204"/>
                <a:buNone/>
              </a:pPr>
              <a:endParaRPr sz="12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FBF6B7-A669-0BCB-D656-94FCDF5128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0715" y="1240971"/>
            <a:ext cx="10883085" cy="4609554"/>
          </a:xfrm>
        </p:spPr>
        <p:txBody>
          <a:bodyPr>
            <a:normAutofit fontScale="97500"/>
          </a:bodyPr>
          <a:lstStyle/>
          <a:p>
            <a:pPr marL="0" indent="0">
              <a:buNone/>
            </a:pPr>
            <a:r>
              <a:rPr lang="en-US" sz="2500" b="1" dirty="0"/>
              <a:t>Business Usage</a:t>
            </a:r>
            <a:endParaRPr lang="en-US" sz="2500" dirty="0"/>
          </a:p>
          <a:p>
            <a:r>
              <a:rPr lang="en-US" sz="2500" dirty="0"/>
              <a:t>Used in procurement and inventory </a:t>
            </a:r>
          </a:p>
          <a:p>
            <a:pPr marL="0" indent="0">
              <a:buNone/>
            </a:pPr>
            <a:r>
              <a:rPr lang="en-US" sz="2500" b="1" dirty="0"/>
              <a:t>Efficiency</a:t>
            </a:r>
            <a:endParaRPr lang="en-US" sz="2500" dirty="0"/>
          </a:p>
          <a:p>
            <a:r>
              <a:rPr lang="en-US" sz="2500" dirty="0"/>
              <a:t>Reduces manual reporting effort </a:t>
            </a:r>
          </a:p>
          <a:p>
            <a:pPr marL="0" indent="0">
              <a:buNone/>
            </a:pPr>
            <a:r>
              <a:rPr lang="en-US" sz="2500" b="1" dirty="0"/>
              <a:t>Decision Support</a:t>
            </a:r>
            <a:endParaRPr lang="en-US" sz="2500" dirty="0"/>
          </a:p>
          <a:p>
            <a:r>
              <a:rPr lang="en-US" sz="2500" dirty="0"/>
              <a:t>Helps in real-time analysis </a:t>
            </a:r>
          </a:p>
          <a:p>
            <a:pPr marL="0" indent="0">
              <a:buNone/>
            </a:pPr>
            <a:r>
              <a:rPr lang="en-US" sz="2500" b="1" dirty="0"/>
              <a:t>Scalability</a:t>
            </a:r>
            <a:endParaRPr lang="en-US" sz="2500" dirty="0"/>
          </a:p>
          <a:p>
            <a:r>
              <a:rPr lang="en-US" sz="2500" dirty="0"/>
              <a:t>Can be extended to other modules</a:t>
            </a:r>
          </a:p>
          <a:p>
            <a:pPr lvl="0" algn="just" fontAlgn="base">
              <a:lnSpc>
                <a:spcPct val="150000"/>
              </a:lnSpc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1" name="Google Shape;101;p1">
            <a:extLst>
              <a:ext uri="{FF2B5EF4-FFF2-40B4-BE49-F238E27FC236}">
                <a16:creationId xmlns:a16="http://schemas.microsoft.com/office/drawing/2014/main" id="{A41035F3-FD1F-8A7B-D6E1-2B814FBE2904}"/>
              </a:ext>
            </a:extLst>
          </p:cNvPr>
          <p:cNvSpPr/>
          <p:nvPr/>
        </p:nvSpPr>
        <p:spPr>
          <a:xfrm>
            <a:off x="0" y="939742"/>
            <a:ext cx="12192000" cy="45719"/>
          </a:xfrm>
          <a:prstGeom prst="rect">
            <a:avLst/>
          </a:prstGeom>
          <a:solidFill>
            <a:srgbClr val="002060"/>
          </a:solidFill>
          <a:ln w="12700" cap="flat" cmpd="sng">
            <a:solidFill>
              <a:srgbClr val="00B0F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2" name="Picture 2" descr="SURE TRUST | LinkedIn">
            <a:extLst>
              <a:ext uri="{FF2B5EF4-FFF2-40B4-BE49-F238E27FC236}">
                <a16:creationId xmlns:a16="http://schemas.microsoft.com/office/drawing/2014/main" id="{9B8C5226-83C0-55B3-4903-5872A0AF1D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25000" y="109708"/>
            <a:ext cx="780465" cy="7804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Google Shape;102;p1">
            <a:extLst>
              <a:ext uri="{FF2B5EF4-FFF2-40B4-BE49-F238E27FC236}">
                <a16:creationId xmlns:a16="http://schemas.microsoft.com/office/drawing/2014/main" id="{1B5D1637-30AD-2389-34AB-CDA356E4C979}"/>
              </a:ext>
            </a:extLst>
          </p:cNvPr>
          <p:cNvSpPr txBox="1"/>
          <p:nvPr/>
        </p:nvSpPr>
        <p:spPr>
          <a:xfrm>
            <a:off x="770279" y="6423025"/>
            <a:ext cx="135808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IN" sz="1800" b="0" i="0" u="none" strike="noStrike" cap="none" dirty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SAP ABAP</a:t>
            </a:r>
            <a:endParaRPr sz="1800" b="0" i="0" u="none" strike="noStrike" cap="none" dirty="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" name="Google Shape;100;p1">
            <a:extLst>
              <a:ext uri="{FF2B5EF4-FFF2-40B4-BE49-F238E27FC236}">
                <a16:creationId xmlns:a16="http://schemas.microsoft.com/office/drawing/2014/main" id="{1EEEEB5F-5023-1A9E-BC60-64094614C6A9}"/>
              </a:ext>
            </a:extLst>
          </p:cNvPr>
          <p:cNvSpPr txBox="1">
            <a:spLocks noGrp="1"/>
          </p:cNvSpPr>
          <p:nvPr>
            <p:ph type="ftr" sz="quarter" idx="11"/>
          </p:nvPr>
        </p:nvSpPr>
        <p:spPr>
          <a:xfrm>
            <a:off x="4038600" y="6423025"/>
            <a:ext cx="7172390" cy="335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8550" rIns="0" bIns="0" anchor="t" anchorCtr="0">
            <a:spAutoFit/>
          </a:bodyPr>
          <a:lstStyle/>
          <a:p>
            <a:pPr marR="0" indent="0" algn="ctr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6197600" algn="l"/>
              </a:tabLst>
            </a:pPr>
            <a:r>
              <a:rPr lang="en-US" altLang="en-US" sz="2000" dirty="0">
                <a:solidFill>
                  <a:schemeClr val="tx1"/>
                </a:solidFill>
                <a:ea typeface="Calibri" panose="020F0502020204030204" pitchFamily="34" charset="0"/>
                <a:cs typeface="+mn-lt"/>
                <a:sym typeface="+mn-ea"/>
              </a:rPr>
              <a:t>SURE Trust </a:t>
            </a:r>
            <a:endParaRPr sz="2000" i="0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E254E23-8F72-6CEF-D687-428C2392C90F}"/>
              </a:ext>
            </a:extLst>
          </p:cNvPr>
          <p:cNvSpPr/>
          <p:nvPr/>
        </p:nvSpPr>
        <p:spPr>
          <a:xfrm>
            <a:off x="3477135" y="-82832"/>
            <a:ext cx="4870244" cy="9863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4400" b="1" dirty="0">
                <a:solidFill>
                  <a:srgbClr val="2F559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Industry Relevance</a:t>
            </a:r>
          </a:p>
        </p:txBody>
      </p:sp>
    </p:spTree>
    <p:extLst>
      <p:ext uri="{BB962C8B-B14F-4D97-AF65-F5344CB8AC3E}">
        <p14:creationId xmlns:p14="http://schemas.microsoft.com/office/powerpoint/2010/main" val="7216674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>
          <a:extLst>
            <a:ext uri="{FF2B5EF4-FFF2-40B4-BE49-F238E27FC236}">
              <a16:creationId xmlns:a16="http://schemas.microsoft.com/office/drawing/2014/main" id="{C7DA224F-D02E-57A1-93EC-96770D7B5C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" name="Google Shape;94;p1">
            <a:extLst>
              <a:ext uri="{FF2B5EF4-FFF2-40B4-BE49-F238E27FC236}">
                <a16:creationId xmlns:a16="http://schemas.microsoft.com/office/drawing/2014/main" id="{7AB583CD-8A98-1AFB-881E-28F2A3E214F2}"/>
              </a:ext>
            </a:extLst>
          </p:cNvPr>
          <p:cNvGrpSpPr/>
          <p:nvPr/>
        </p:nvGrpSpPr>
        <p:grpSpPr>
          <a:xfrm>
            <a:off x="0" y="6350596"/>
            <a:ext cx="12192188" cy="507405"/>
            <a:chOff x="-514" y="9019181"/>
            <a:chExt cx="17348468" cy="721995"/>
          </a:xfrm>
        </p:grpSpPr>
        <p:sp>
          <p:nvSpPr>
            <p:cNvPr id="96" name="Google Shape;96;p1">
              <a:extLst>
                <a:ext uri="{FF2B5EF4-FFF2-40B4-BE49-F238E27FC236}">
                  <a16:creationId xmlns:a16="http://schemas.microsoft.com/office/drawing/2014/main" id="{884A829D-7357-EE9A-61F7-FB296D03AF3D}"/>
                </a:ext>
              </a:extLst>
            </p:cNvPr>
            <p:cNvSpPr/>
            <p:nvPr/>
          </p:nvSpPr>
          <p:spPr>
            <a:xfrm>
              <a:off x="5293059" y="9019181"/>
              <a:ext cx="1647825" cy="721995"/>
            </a:xfrm>
            <a:custGeom>
              <a:avLst/>
              <a:gdLst/>
              <a:ahLst/>
              <a:cxnLst/>
              <a:rect l="l" t="t" r="r" b="b"/>
              <a:pathLst>
                <a:path w="1647825" h="721995" extrusionOk="0">
                  <a:moveTo>
                    <a:pt x="1647578" y="0"/>
                  </a:moveTo>
                  <a:lnTo>
                    <a:pt x="357644" y="0"/>
                  </a:lnTo>
                  <a:lnTo>
                    <a:pt x="0" y="721979"/>
                  </a:lnTo>
                  <a:lnTo>
                    <a:pt x="1289933" y="721979"/>
                  </a:lnTo>
                  <a:lnTo>
                    <a:pt x="1647578" y="0"/>
                  </a:lnTo>
                  <a:close/>
                </a:path>
              </a:pathLst>
            </a:custGeom>
            <a:solidFill>
              <a:srgbClr val="FFF4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65"/>
                <a:buFont typeface="Arial" panose="020B0604020202020204"/>
                <a:buNone/>
              </a:pPr>
              <a:endParaRPr sz="12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7" name="Google Shape;97;p1">
              <a:extLst>
                <a:ext uri="{FF2B5EF4-FFF2-40B4-BE49-F238E27FC236}">
                  <a16:creationId xmlns:a16="http://schemas.microsoft.com/office/drawing/2014/main" id="{F7363B98-FEFE-0403-E2B1-EED6B7AD2AC8}"/>
                </a:ext>
              </a:extLst>
            </p:cNvPr>
            <p:cNvSpPr/>
            <p:nvPr/>
          </p:nvSpPr>
          <p:spPr>
            <a:xfrm>
              <a:off x="3260091" y="9019181"/>
              <a:ext cx="1647825" cy="721995"/>
            </a:xfrm>
            <a:custGeom>
              <a:avLst/>
              <a:gdLst/>
              <a:ahLst/>
              <a:cxnLst/>
              <a:rect l="l" t="t" r="r" b="b"/>
              <a:pathLst>
                <a:path w="1647825" h="721995" extrusionOk="0">
                  <a:moveTo>
                    <a:pt x="1647579" y="0"/>
                  </a:moveTo>
                  <a:lnTo>
                    <a:pt x="357645" y="0"/>
                  </a:lnTo>
                  <a:lnTo>
                    <a:pt x="0" y="721979"/>
                  </a:lnTo>
                  <a:lnTo>
                    <a:pt x="1289933" y="721979"/>
                  </a:lnTo>
                  <a:lnTo>
                    <a:pt x="1647579" y="0"/>
                  </a:lnTo>
                  <a:close/>
                </a:path>
              </a:pathLst>
            </a:custGeom>
            <a:solidFill>
              <a:srgbClr val="006EAD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65"/>
                <a:buFont typeface="Arial" panose="020B0604020202020204"/>
                <a:buNone/>
              </a:pPr>
              <a:endParaRPr sz="12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8" name="Google Shape;98;p1">
              <a:extLst>
                <a:ext uri="{FF2B5EF4-FFF2-40B4-BE49-F238E27FC236}">
                  <a16:creationId xmlns:a16="http://schemas.microsoft.com/office/drawing/2014/main" id="{FAB1B32F-AEF0-D5CB-8C4D-8ED1168712DB}"/>
                </a:ext>
              </a:extLst>
            </p:cNvPr>
            <p:cNvSpPr/>
            <p:nvPr/>
          </p:nvSpPr>
          <p:spPr>
            <a:xfrm>
              <a:off x="5757299" y="9019181"/>
              <a:ext cx="11590655" cy="721995"/>
            </a:xfrm>
            <a:custGeom>
              <a:avLst/>
              <a:gdLst/>
              <a:ahLst/>
              <a:cxnLst/>
              <a:rect l="l" t="t" r="r" b="b"/>
              <a:pathLst>
                <a:path w="11590655" h="721995" extrusionOk="0">
                  <a:moveTo>
                    <a:pt x="11590369" y="0"/>
                  </a:moveTo>
                  <a:lnTo>
                    <a:pt x="0" y="0"/>
                  </a:lnTo>
                  <a:lnTo>
                    <a:pt x="0" y="721979"/>
                  </a:lnTo>
                  <a:lnTo>
                    <a:pt x="11590369" y="721979"/>
                  </a:lnTo>
                  <a:lnTo>
                    <a:pt x="11590369" y="0"/>
                  </a:lnTo>
                  <a:close/>
                </a:path>
              </a:pathLst>
            </a:custGeom>
            <a:solidFill>
              <a:srgbClr val="FFF4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65"/>
                <a:buFont typeface="Arial" panose="020B0604020202020204"/>
                <a:buNone/>
              </a:pPr>
              <a:endParaRPr sz="12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9" name="Google Shape;99;p1">
              <a:extLst>
                <a:ext uri="{FF2B5EF4-FFF2-40B4-BE49-F238E27FC236}">
                  <a16:creationId xmlns:a16="http://schemas.microsoft.com/office/drawing/2014/main" id="{FD8A8F9E-C338-4AB3-02BF-E9E4415D8792}"/>
                </a:ext>
              </a:extLst>
            </p:cNvPr>
            <p:cNvSpPr/>
            <p:nvPr/>
          </p:nvSpPr>
          <p:spPr>
            <a:xfrm>
              <a:off x="-514" y="9019181"/>
              <a:ext cx="4516755" cy="721995"/>
            </a:xfrm>
            <a:custGeom>
              <a:avLst/>
              <a:gdLst/>
              <a:ahLst/>
              <a:cxnLst/>
              <a:rect l="l" t="t" r="r" b="b"/>
              <a:pathLst>
                <a:path w="4516755" h="721995" extrusionOk="0">
                  <a:moveTo>
                    <a:pt x="4516274" y="0"/>
                  </a:moveTo>
                  <a:lnTo>
                    <a:pt x="0" y="0"/>
                  </a:lnTo>
                  <a:lnTo>
                    <a:pt x="0" y="721979"/>
                  </a:lnTo>
                  <a:lnTo>
                    <a:pt x="4516274" y="721979"/>
                  </a:lnTo>
                  <a:lnTo>
                    <a:pt x="4516274" y="0"/>
                  </a:lnTo>
                  <a:close/>
                </a:path>
              </a:pathLst>
            </a:custGeom>
            <a:solidFill>
              <a:srgbClr val="006EAD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65"/>
                <a:buFont typeface="Arial" panose="020B0604020202020204"/>
                <a:buNone/>
              </a:pPr>
              <a:endParaRPr sz="12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101" name="Google Shape;101;p1">
            <a:extLst>
              <a:ext uri="{FF2B5EF4-FFF2-40B4-BE49-F238E27FC236}">
                <a16:creationId xmlns:a16="http://schemas.microsoft.com/office/drawing/2014/main" id="{8855E9E4-78AA-AF25-87F6-755616C88E12}"/>
              </a:ext>
            </a:extLst>
          </p:cNvPr>
          <p:cNvSpPr/>
          <p:nvPr/>
        </p:nvSpPr>
        <p:spPr>
          <a:xfrm>
            <a:off x="0" y="939742"/>
            <a:ext cx="12192000" cy="45719"/>
          </a:xfrm>
          <a:prstGeom prst="rect">
            <a:avLst/>
          </a:prstGeom>
          <a:solidFill>
            <a:srgbClr val="002060"/>
          </a:solidFill>
          <a:ln w="12700" cap="flat" cmpd="sng">
            <a:solidFill>
              <a:srgbClr val="00B0F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2" name="Picture 2" descr="SURE TRUST | LinkedIn">
            <a:extLst>
              <a:ext uri="{FF2B5EF4-FFF2-40B4-BE49-F238E27FC236}">
                <a16:creationId xmlns:a16="http://schemas.microsoft.com/office/drawing/2014/main" id="{1235FFB8-1D6D-6A5C-547C-DE40341127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25000" y="109708"/>
            <a:ext cx="780465" cy="7804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Google Shape;102;p1">
            <a:extLst>
              <a:ext uri="{FF2B5EF4-FFF2-40B4-BE49-F238E27FC236}">
                <a16:creationId xmlns:a16="http://schemas.microsoft.com/office/drawing/2014/main" id="{62B44F3C-2457-302B-379A-A9A996395E4D}"/>
              </a:ext>
            </a:extLst>
          </p:cNvPr>
          <p:cNvSpPr txBox="1"/>
          <p:nvPr/>
        </p:nvSpPr>
        <p:spPr>
          <a:xfrm>
            <a:off x="770279" y="6423025"/>
            <a:ext cx="135808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IN" sz="1800" b="0" i="0" u="none" strike="noStrike" cap="none" dirty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SAP ABAP</a:t>
            </a:r>
            <a:endParaRPr sz="1800" b="0" i="0" u="none" strike="noStrike" cap="none" dirty="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" name="Google Shape;100;p1">
            <a:extLst>
              <a:ext uri="{FF2B5EF4-FFF2-40B4-BE49-F238E27FC236}">
                <a16:creationId xmlns:a16="http://schemas.microsoft.com/office/drawing/2014/main" id="{1A963D91-F443-DE0B-47F7-6FE56EEAE534}"/>
              </a:ext>
            </a:extLst>
          </p:cNvPr>
          <p:cNvSpPr txBox="1">
            <a:spLocks noGrp="1"/>
          </p:cNvSpPr>
          <p:nvPr>
            <p:ph type="ftr" sz="quarter" idx="11"/>
          </p:nvPr>
        </p:nvSpPr>
        <p:spPr>
          <a:xfrm>
            <a:off x="4038600" y="6423025"/>
            <a:ext cx="7172390" cy="335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8550" rIns="0" bIns="0" anchor="t" anchorCtr="0">
            <a:spAutoFit/>
          </a:bodyPr>
          <a:lstStyle/>
          <a:p>
            <a:pPr marR="0" indent="0" algn="ctr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6197600" algn="l"/>
              </a:tabLst>
            </a:pPr>
            <a:r>
              <a:rPr lang="en-US" altLang="en-US" sz="2000" dirty="0">
                <a:solidFill>
                  <a:schemeClr val="tx1"/>
                </a:solidFill>
                <a:ea typeface="Calibri" panose="020F0502020204030204" pitchFamily="34" charset="0"/>
                <a:cs typeface="+mn-lt"/>
                <a:sym typeface="+mn-ea"/>
              </a:rPr>
              <a:t>SURE Trust </a:t>
            </a:r>
            <a:endParaRPr sz="2000" i="0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D2C3C47-0712-B096-138D-6E6529A65F55}"/>
              </a:ext>
            </a:extLst>
          </p:cNvPr>
          <p:cNvSpPr/>
          <p:nvPr/>
        </p:nvSpPr>
        <p:spPr>
          <a:xfrm>
            <a:off x="3477135" y="-82832"/>
            <a:ext cx="4964821" cy="9863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4400" b="1" dirty="0">
                <a:solidFill>
                  <a:srgbClr val="2F559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Learning Outcomes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1409A0E1-08C6-D6C7-FC9E-93924FE7D2D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18938" y="276320"/>
            <a:ext cx="7185813" cy="44096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Hands-on experience with ALV reporting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Understanding of Smart Forms design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Knowledge of SUBMIT and modular programming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Working with SAP standard tables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Improved debugging and problem-solving skills </a:t>
            </a:r>
          </a:p>
        </p:txBody>
      </p:sp>
    </p:spTree>
    <p:extLst>
      <p:ext uri="{BB962C8B-B14F-4D97-AF65-F5344CB8AC3E}">
        <p14:creationId xmlns:p14="http://schemas.microsoft.com/office/powerpoint/2010/main" val="29159422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>
          <a:extLst>
            <a:ext uri="{FF2B5EF4-FFF2-40B4-BE49-F238E27FC236}">
              <a16:creationId xmlns:a16="http://schemas.microsoft.com/office/drawing/2014/main" id="{272D452F-26ED-19DD-79C9-D31D8C9477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" name="Google Shape;94;p1">
            <a:extLst>
              <a:ext uri="{FF2B5EF4-FFF2-40B4-BE49-F238E27FC236}">
                <a16:creationId xmlns:a16="http://schemas.microsoft.com/office/drawing/2014/main" id="{4E1EF011-4187-D287-9659-1ADC45AD075E}"/>
              </a:ext>
            </a:extLst>
          </p:cNvPr>
          <p:cNvGrpSpPr/>
          <p:nvPr/>
        </p:nvGrpSpPr>
        <p:grpSpPr>
          <a:xfrm>
            <a:off x="0" y="6350596"/>
            <a:ext cx="12192188" cy="507405"/>
            <a:chOff x="-514" y="9019181"/>
            <a:chExt cx="17348468" cy="721995"/>
          </a:xfrm>
        </p:grpSpPr>
        <p:sp>
          <p:nvSpPr>
            <p:cNvPr id="96" name="Google Shape;96;p1">
              <a:extLst>
                <a:ext uri="{FF2B5EF4-FFF2-40B4-BE49-F238E27FC236}">
                  <a16:creationId xmlns:a16="http://schemas.microsoft.com/office/drawing/2014/main" id="{14C174E1-C4DC-23B4-AB70-10DD03857CC2}"/>
                </a:ext>
              </a:extLst>
            </p:cNvPr>
            <p:cNvSpPr/>
            <p:nvPr/>
          </p:nvSpPr>
          <p:spPr>
            <a:xfrm>
              <a:off x="5293059" y="9019181"/>
              <a:ext cx="1647825" cy="721995"/>
            </a:xfrm>
            <a:custGeom>
              <a:avLst/>
              <a:gdLst/>
              <a:ahLst/>
              <a:cxnLst/>
              <a:rect l="l" t="t" r="r" b="b"/>
              <a:pathLst>
                <a:path w="1647825" h="721995" extrusionOk="0">
                  <a:moveTo>
                    <a:pt x="1647578" y="0"/>
                  </a:moveTo>
                  <a:lnTo>
                    <a:pt x="357644" y="0"/>
                  </a:lnTo>
                  <a:lnTo>
                    <a:pt x="0" y="721979"/>
                  </a:lnTo>
                  <a:lnTo>
                    <a:pt x="1289933" y="721979"/>
                  </a:lnTo>
                  <a:lnTo>
                    <a:pt x="1647578" y="0"/>
                  </a:lnTo>
                  <a:close/>
                </a:path>
              </a:pathLst>
            </a:custGeom>
            <a:solidFill>
              <a:srgbClr val="FFF4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65"/>
                <a:buFont typeface="Arial" panose="020B0604020202020204"/>
                <a:buNone/>
              </a:pPr>
              <a:endParaRPr sz="12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7" name="Google Shape;97;p1">
              <a:extLst>
                <a:ext uri="{FF2B5EF4-FFF2-40B4-BE49-F238E27FC236}">
                  <a16:creationId xmlns:a16="http://schemas.microsoft.com/office/drawing/2014/main" id="{34108475-059F-5BC7-F0DD-CC77F2522DE5}"/>
                </a:ext>
              </a:extLst>
            </p:cNvPr>
            <p:cNvSpPr/>
            <p:nvPr/>
          </p:nvSpPr>
          <p:spPr>
            <a:xfrm>
              <a:off x="3260091" y="9019181"/>
              <a:ext cx="1647825" cy="721995"/>
            </a:xfrm>
            <a:custGeom>
              <a:avLst/>
              <a:gdLst/>
              <a:ahLst/>
              <a:cxnLst/>
              <a:rect l="l" t="t" r="r" b="b"/>
              <a:pathLst>
                <a:path w="1647825" h="721995" extrusionOk="0">
                  <a:moveTo>
                    <a:pt x="1647579" y="0"/>
                  </a:moveTo>
                  <a:lnTo>
                    <a:pt x="357645" y="0"/>
                  </a:lnTo>
                  <a:lnTo>
                    <a:pt x="0" y="721979"/>
                  </a:lnTo>
                  <a:lnTo>
                    <a:pt x="1289933" y="721979"/>
                  </a:lnTo>
                  <a:lnTo>
                    <a:pt x="1647579" y="0"/>
                  </a:lnTo>
                  <a:close/>
                </a:path>
              </a:pathLst>
            </a:custGeom>
            <a:solidFill>
              <a:srgbClr val="006EAD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65"/>
                <a:buFont typeface="Arial" panose="020B0604020202020204"/>
                <a:buNone/>
              </a:pPr>
              <a:endParaRPr sz="12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8" name="Google Shape;98;p1">
              <a:extLst>
                <a:ext uri="{FF2B5EF4-FFF2-40B4-BE49-F238E27FC236}">
                  <a16:creationId xmlns:a16="http://schemas.microsoft.com/office/drawing/2014/main" id="{E31BA1E8-D276-1AC0-74E2-1532F162F66F}"/>
                </a:ext>
              </a:extLst>
            </p:cNvPr>
            <p:cNvSpPr/>
            <p:nvPr/>
          </p:nvSpPr>
          <p:spPr>
            <a:xfrm>
              <a:off x="5757299" y="9019181"/>
              <a:ext cx="11590655" cy="721995"/>
            </a:xfrm>
            <a:custGeom>
              <a:avLst/>
              <a:gdLst/>
              <a:ahLst/>
              <a:cxnLst/>
              <a:rect l="l" t="t" r="r" b="b"/>
              <a:pathLst>
                <a:path w="11590655" h="721995" extrusionOk="0">
                  <a:moveTo>
                    <a:pt x="11590369" y="0"/>
                  </a:moveTo>
                  <a:lnTo>
                    <a:pt x="0" y="0"/>
                  </a:lnTo>
                  <a:lnTo>
                    <a:pt x="0" y="721979"/>
                  </a:lnTo>
                  <a:lnTo>
                    <a:pt x="11590369" y="721979"/>
                  </a:lnTo>
                  <a:lnTo>
                    <a:pt x="11590369" y="0"/>
                  </a:lnTo>
                  <a:close/>
                </a:path>
              </a:pathLst>
            </a:custGeom>
            <a:solidFill>
              <a:srgbClr val="FFF4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65"/>
                <a:buFont typeface="Arial" panose="020B0604020202020204"/>
                <a:buNone/>
              </a:pPr>
              <a:endParaRPr sz="12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9" name="Google Shape;99;p1">
              <a:extLst>
                <a:ext uri="{FF2B5EF4-FFF2-40B4-BE49-F238E27FC236}">
                  <a16:creationId xmlns:a16="http://schemas.microsoft.com/office/drawing/2014/main" id="{5DEC0424-A912-A7FD-1CD9-5F258144D8FB}"/>
                </a:ext>
              </a:extLst>
            </p:cNvPr>
            <p:cNvSpPr/>
            <p:nvPr/>
          </p:nvSpPr>
          <p:spPr>
            <a:xfrm>
              <a:off x="-514" y="9019181"/>
              <a:ext cx="4516755" cy="721995"/>
            </a:xfrm>
            <a:custGeom>
              <a:avLst/>
              <a:gdLst/>
              <a:ahLst/>
              <a:cxnLst/>
              <a:rect l="l" t="t" r="r" b="b"/>
              <a:pathLst>
                <a:path w="4516755" h="721995" extrusionOk="0">
                  <a:moveTo>
                    <a:pt x="4516274" y="0"/>
                  </a:moveTo>
                  <a:lnTo>
                    <a:pt x="0" y="0"/>
                  </a:lnTo>
                  <a:lnTo>
                    <a:pt x="0" y="721979"/>
                  </a:lnTo>
                  <a:lnTo>
                    <a:pt x="4516274" y="721979"/>
                  </a:lnTo>
                  <a:lnTo>
                    <a:pt x="4516274" y="0"/>
                  </a:lnTo>
                  <a:close/>
                </a:path>
              </a:pathLst>
            </a:custGeom>
            <a:solidFill>
              <a:srgbClr val="006EAD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65"/>
                <a:buFont typeface="Arial" panose="020B0604020202020204"/>
                <a:buNone/>
              </a:pPr>
              <a:endParaRPr sz="12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101" name="Google Shape;101;p1">
            <a:extLst>
              <a:ext uri="{FF2B5EF4-FFF2-40B4-BE49-F238E27FC236}">
                <a16:creationId xmlns:a16="http://schemas.microsoft.com/office/drawing/2014/main" id="{971D0F0A-90C8-06A0-86ED-5613FDF85F83}"/>
              </a:ext>
            </a:extLst>
          </p:cNvPr>
          <p:cNvSpPr/>
          <p:nvPr/>
        </p:nvSpPr>
        <p:spPr>
          <a:xfrm>
            <a:off x="0" y="939742"/>
            <a:ext cx="12192000" cy="45719"/>
          </a:xfrm>
          <a:prstGeom prst="rect">
            <a:avLst/>
          </a:prstGeom>
          <a:solidFill>
            <a:srgbClr val="002060"/>
          </a:solidFill>
          <a:ln w="12700" cap="flat" cmpd="sng">
            <a:solidFill>
              <a:srgbClr val="00B0F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2" name="Picture 2" descr="SURE TRUST | LinkedIn">
            <a:extLst>
              <a:ext uri="{FF2B5EF4-FFF2-40B4-BE49-F238E27FC236}">
                <a16:creationId xmlns:a16="http://schemas.microsoft.com/office/drawing/2014/main" id="{AA6404BE-F8D6-D55E-EB23-44BAF180FE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25000" y="109708"/>
            <a:ext cx="780465" cy="7804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Google Shape;102;p1">
            <a:extLst>
              <a:ext uri="{FF2B5EF4-FFF2-40B4-BE49-F238E27FC236}">
                <a16:creationId xmlns:a16="http://schemas.microsoft.com/office/drawing/2014/main" id="{21507F1E-2CB9-8F29-0880-B4B2FE6A399B}"/>
              </a:ext>
            </a:extLst>
          </p:cNvPr>
          <p:cNvSpPr txBox="1"/>
          <p:nvPr/>
        </p:nvSpPr>
        <p:spPr>
          <a:xfrm>
            <a:off x="770279" y="6423025"/>
            <a:ext cx="135808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IN" sz="1800" b="0" i="0" u="none" strike="noStrike" cap="none" dirty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SAP ABAP</a:t>
            </a:r>
            <a:endParaRPr sz="1800" b="0" i="0" u="none" strike="noStrike" cap="none" dirty="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" name="Google Shape;100;p1">
            <a:extLst>
              <a:ext uri="{FF2B5EF4-FFF2-40B4-BE49-F238E27FC236}">
                <a16:creationId xmlns:a16="http://schemas.microsoft.com/office/drawing/2014/main" id="{8BEA070F-598A-3BF5-CA47-369AE9880B73}"/>
              </a:ext>
            </a:extLst>
          </p:cNvPr>
          <p:cNvSpPr txBox="1">
            <a:spLocks noGrp="1"/>
          </p:cNvSpPr>
          <p:nvPr>
            <p:ph type="ftr" sz="quarter" idx="11"/>
          </p:nvPr>
        </p:nvSpPr>
        <p:spPr>
          <a:xfrm>
            <a:off x="4038600" y="6423025"/>
            <a:ext cx="7172390" cy="335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8550" rIns="0" bIns="0" anchor="t" anchorCtr="0">
            <a:spAutoFit/>
          </a:bodyPr>
          <a:lstStyle/>
          <a:p>
            <a:pPr marR="0" indent="0" algn="ctr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6197600" algn="l"/>
              </a:tabLst>
            </a:pPr>
            <a:r>
              <a:rPr lang="en-US" altLang="en-US" sz="2000" dirty="0">
                <a:solidFill>
                  <a:schemeClr val="tx1"/>
                </a:solidFill>
                <a:ea typeface="Calibri" panose="020F0502020204030204" pitchFamily="34" charset="0"/>
                <a:cs typeface="+mn-lt"/>
                <a:sym typeface="+mn-ea"/>
              </a:rPr>
              <a:t>SURE Trust </a:t>
            </a:r>
            <a:endParaRPr sz="2000" i="0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632E470-2245-10F9-7A2F-C43F0EC7BAE8}"/>
              </a:ext>
            </a:extLst>
          </p:cNvPr>
          <p:cNvSpPr/>
          <p:nvPr/>
        </p:nvSpPr>
        <p:spPr>
          <a:xfrm>
            <a:off x="4470997" y="-116753"/>
            <a:ext cx="2882520" cy="9863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4400" b="1" dirty="0">
                <a:solidFill>
                  <a:srgbClr val="2F559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6D079E01-5DF8-B95F-7E64-0E3285417B9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99128" y="1062584"/>
            <a:ext cx="12026369" cy="47328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Successfully developed an SAP ABAP-based reporting system in the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400" dirty="0">
                <a:latin typeface="Arial" panose="020B0604020202020204" pitchFamily="34" charset="0"/>
              </a:rPr>
              <a:t> 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Materials Management (MM)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domain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Integrated ALV Reports, Smart Forms, and SUBMIT functionality for efficient reporting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Improved data accuracy, structure, and reporting efficiency in the MM process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Reduced manual effort through automation of material and purchase data reporting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Demonstrated practical implementation of SAP ERP in real-time Materials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400" dirty="0">
                <a:latin typeface="Arial" panose="020B0604020202020204" pitchFamily="34" charset="0"/>
              </a:rPr>
              <a:t> 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Management scenarios </a:t>
            </a:r>
          </a:p>
        </p:txBody>
      </p:sp>
    </p:spTree>
    <p:extLst>
      <p:ext uri="{BB962C8B-B14F-4D97-AF65-F5344CB8AC3E}">
        <p14:creationId xmlns:p14="http://schemas.microsoft.com/office/powerpoint/2010/main" val="17546481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>
          <a:extLst>
            <a:ext uri="{FF2B5EF4-FFF2-40B4-BE49-F238E27FC236}">
              <a16:creationId xmlns:a16="http://schemas.microsoft.com/office/drawing/2014/main" id="{5CA9A05B-2C82-D6C0-96DF-8673F996C0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" name="Google Shape;94;p1">
            <a:extLst>
              <a:ext uri="{FF2B5EF4-FFF2-40B4-BE49-F238E27FC236}">
                <a16:creationId xmlns:a16="http://schemas.microsoft.com/office/drawing/2014/main" id="{E09BEA44-EC60-B928-1AF2-A3C569715D28}"/>
              </a:ext>
            </a:extLst>
          </p:cNvPr>
          <p:cNvGrpSpPr/>
          <p:nvPr/>
        </p:nvGrpSpPr>
        <p:grpSpPr>
          <a:xfrm>
            <a:off x="0" y="6350596"/>
            <a:ext cx="12192188" cy="507405"/>
            <a:chOff x="-514" y="9019181"/>
            <a:chExt cx="17348468" cy="721995"/>
          </a:xfrm>
        </p:grpSpPr>
        <p:sp>
          <p:nvSpPr>
            <p:cNvPr id="96" name="Google Shape;96;p1">
              <a:extLst>
                <a:ext uri="{FF2B5EF4-FFF2-40B4-BE49-F238E27FC236}">
                  <a16:creationId xmlns:a16="http://schemas.microsoft.com/office/drawing/2014/main" id="{B453F830-FDEA-C9F6-3428-6C9B80874E3A}"/>
                </a:ext>
              </a:extLst>
            </p:cNvPr>
            <p:cNvSpPr/>
            <p:nvPr/>
          </p:nvSpPr>
          <p:spPr>
            <a:xfrm>
              <a:off x="5293059" y="9019181"/>
              <a:ext cx="1647825" cy="721995"/>
            </a:xfrm>
            <a:custGeom>
              <a:avLst/>
              <a:gdLst/>
              <a:ahLst/>
              <a:cxnLst/>
              <a:rect l="l" t="t" r="r" b="b"/>
              <a:pathLst>
                <a:path w="1647825" h="721995" extrusionOk="0">
                  <a:moveTo>
                    <a:pt x="1647578" y="0"/>
                  </a:moveTo>
                  <a:lnTo>
                    <a:pt x="357644" y="0"/>
                  </a:lnTo>
                  <a:lnTo>
                    <a:pt x="0" y="721979"/>
                  </a:lnTo>
                  <a:lnTo>
                    <a:pt x="1289933" y="721979"/>
                  </a:lnTo>
                  <a:lnTo>
                    <a:pt x="1647578" y="0"/>
                  </a:lnTo>
                  <a:close/>
                </a:path>
              </a:pathLst>
            </a:custGeom>
            <a:solidFill>
              <a:srgbClr val="FFF4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65"/>
                <a:buFont typeface="Arial" panose="020B0604020202020204"/>
                <a:buNone/>
              </a:pPr>
              <a:endParaRPr sz="12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7" name="Google Shape;97;p1">
              <a:extLst>
                <a:ext uri="{FF2B5EF4-FFF2-40B4-BE49-F238E27FC236}">
                  <a16:creationId xmlns:a16="http://schemas.microsoft.com/office/drawing/2014/main" id="{D7CCB0E4-9E46-3825-6A98-A5B66467AD3D}"/>
                </a:ext>
              </a:extLst>
            </p:cNvPr>
            <p:cNvSpPr/>
            <p:nvPr/>
          </p:nvSpPr>
          <p:spPr>
            <a:xfrm>
              <a:off x="3260091" y="9019181"/>
              <a:ext cx="1647825" cy="721995"/>
            </a:xfrm>
            <a:custGeom>
              <a:avLst/>
              <a:gdLst/>
              <a:ahLst/>
              <a:cxnLst/>
              <a:rect l="l" t="t" r="r" b="b"/>
              <a:pathLst>
                <a:path w="1647825" h="721995" extrusionOk="0">
                  <a:moveTo>
                    <a:pt x="1647579" y="0"/>
                  </a:moveTo>
                  <a:lnTo>
                    <a:pt x="357645" y="0"/>
                  </a:lnTo>
                  <a:lnTo>
                    <a:pt x="0" y="721979"/>
                  </a:lnTo>
                  <a:lnTo>
                    <a:pt x="1289933" y="721979"/>
                  </a:lnTo>
                  <a:lnTo>
                    <a:pt x="1647579" y="0"/>
                  </a:lnTo>
                  <a:close/>
                </a:path>
              </a:pathLst>
            </a:custGeom>
            <a:solidFill>
              <a:srgbClr val="006EAD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65"/>
                <a:buFont typeface="Arial" panose="020B0604020202020204"/>
                <a:buNone/>
              </a:pPr>
              <a:endParaRPr sz="12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8" name="Google Shape;98;p1">
              <a:extLst>
                <a:ext uri="{FF2B5EF4-FFF2-40B4-BE49-F238E27FC236}">
                  <a16:creationId xmlns:a16="http://schemas.microsoft.com/office/drawing/2014/main" id="{F93A4D8B-0C94-DA60-FA8B-39631CE5C93E}"/>
                </a:ext>
              </a:extLst>
            </p:cNvPr>
            <p:cNvSpPr/>
            <p:nvPr/>
          </p:nvSpPr>
          <p:spPr>
            <a:xfrm>
              <a:off x="5757299" y="9019181"/>
              <a:ext cx="11590655" cy="721995"/>
            </a:xfrm>
            <a:custGeom>
              <a:avLst/>
              <a:gdLst/>
              <a:ahLst/>
              <a:cxnLst/>
              <a:rect l="l" t="t" r="r" b="b"/>
              <a:pathLst>
                <a:path w="11590655" h="721995" extrusionOk="0">
                  <a:moveTo>
                    <a:pt x="11590369" y="0"/>
                  </a:moveTo>
                  <a:lnTo>
                    <a:pt x="0" y="0"/>
                  </a:lnTo>
                  <a:lnTo>
                    <a:pt x="0" y="721979"/>
                  </a:lnTo>
                  <a:lnTo>
                    <a:pt x="11590369" y="721979"/>
                  </a:lnTo>
                  <a:lnTo>
                    <a:pt x="11590369" y="0"/>
                  </a:lnTo>
                  <a:close/>
                </a:path>
              </a:pathLst>
            </a:custGeom>
            <a:solidFill>
              <a:srgbClr val="FFF4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65"/>
                <a:buFont typeface="Arial" panose="020B0604020202020204"/>
                <a:buNone/>
              </a:pPr>
              <a:endParaRPr sz="12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9" name="Google Shape;99;p1">
              <a:extLst>
                <a:ext uri="{FF2B5EF4-FFF2-40B4-BE49-F238E27FC236}">
                  <a16:creationId xmlns:a16="http://schemas.microsoft.com/office/drawing/2014/main" id="{CFCEFF18-13E3-97F8-AF2C-28239D262DED}"/>
                </a:ext>
              </a:extLst>
            </p:cNvPr>
            <p:cNvSpPr/>
            <p:nvPr/>
          </p:nvSpPr>
          <p:spPr>
            <a:xfrm>
              <a:off x="-514" y="9019181"/>
              <a:ext cx="4516755" cy="721995"/>
            </a:xfrm>
            <a:custGeom>
              <a:avLst/>
              <a:gdLst/>
              <a:ahLst/>
              <a:cxnLst/>
              <a:rect l="l" t="t" r="r" b="b"/>
              <a:pathLst>
                <a:path w="4516755" h="721995" extrusionOk="0">
                  <a:moveTo>
                    <a:pt x="4516274" y="0"/>
                  </a:moveTo>
                  <a:lnTo>
                    <a:pt x="0" y="0"/>
                  </a:lnTo>
                  <a:lnTo>
                    <a:pt x="0" y="721979"/>
                  </a:lnTo>
                  <a:lnTo>
                    <a:pt x="4516274" y="721979"/>
                  </a:lnTo>
                  <a:lnTo>
                    <a:pt x="4516274" y="0"/>
                  </a:lnTo>
                  <a:close/>
                </a:path>
              </a:pathLst>
            </a:custGeom>
            <a:solidFill>
              <a:srgbClr val="006EAD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65"/>
                <a:buFont typeface="Arial" panose="020B0604020202020204"/>
                <a:buNone/>
              </a:pPr>
              <a:endParaRPr sz="12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101" name="Google Shape;101;p1">
            <a:extLst>
              <a:ext uri="{FF2B5EF4-FFF2-40B4-BE49-F238E27FC236}">
                <a16:creationId xmlns:a16="http://schemas.microsoft.com/office/drawing/2014/main" id="{A3EA087D-C288-D069-6B16-F20277C9CFF9}"/>
              </a:ext>
            </a:extLst>
          </p:cNvPr>
          <p:cNvSpPr/>
          <p:nvPr/>
        </p:nvSpPr>
        <p:spPr>
          <a:xfrm>
            <a:off x="0" y="939742"/>
            <a:ext cx="12192000" cy="45719"/>
          </a:xfrm>
          <a:prstGeom prst="rect">
            <a:avLst/>
          </a:prstGeom>
          <a:solidFill>
            <a:srgbClr val="002060"/>
          </a:solidFill>
          <a:ln w="12700" cap="flat" cmpd="sng">
            <a:solidFill>
              <a:srgbClr val="00B0F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2" name="Picture 2" descr="SURE TRUST | LinkedIn">
            <a:extLst>
              <a:ext uri="{FF2B5EF4-FFF2-40B4-BE49-F238E27FC236}">
                <a16:creationId xmlns:a16="http://schemas.microsoft.com/office/drawing/2014/main" id="{05FF16A5-6F32-2BC0-162E-4432BEE7E4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25000" y="109708"/>
            <a:ext cx="780465" cy="7804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Google Shape;102;p1">
            <a:extLst>
              <a:ext uri="{FF2B5EF4-FFF2-40B4-BE49-F238E27FC236}">
                <a16:creationId xmlns:a16="http://schemas.microsoft.com/office/drawing/2014/main" id="{C0B0447A-239B-0061-2B61-94CB301B3B15}"/>
              </a:ext>
            </a:extLst>
          </p:cNvPr>
          <p:cNvSpPr txBox="1"/>
          <p:nvPr/>
        </p:nvSpPr>
        <p:spPr>
          <a:xfrm>
            <a:off x="770279" y="6423025"/>
            <a:ext cx="135808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IN" sz="1800" b="0" i="0" u="none" strike="noStrike" cap="none" dirty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SAP ABAP</a:t>
            </a:r>
            <a:endParaRPr sz="1800" b="0" i="0" u="none" strike="noStrike" cap="none" dirty="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" name="Google Shape;100;p1">
            <a:extLst>
              <a:ext uri="{FF2B5EF4-FFF2-40B4-BE49-F238E27FC236}">
                <a16:creationId xmlns:a16="http://schemas.microsoft.com/office/drawing/2014/main" id="{43A7E537-A071-DA2E-D027-97D26C95CD40}"/>
              </a:ext>
            </a:extLst>
          </p:cNvPr>
          <p:cNvSpPr txBox="1">
            <a:spLocks noGrp="1"/>
          </p:cNvSpPr>
          <p:nvPr>
            <p:ph type="ftr" sz="quarter" idx="11"/>
          </p:nvPr>
        </p:nvSpPr>
        <p:spPr>
          <a:xfrm>
            <a:off x="4038600" y="6423025"/>
            <a:ext cx="7172390" cy="335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8550" rIns="0" bIns="0" anchor="t" anchorCtr="0">
            <a:spAutoFit/>
          </a:bodyPr>
          <a:lstStyle/>
          <a:p>
            <a:pPr marR="0" indent="0" algn="ctr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6197600" algn="l"/>
              </a:tabLst>
            </a:pPr>
            <a:r>
              <a:rPr lang="en-US" altLang="en-US" sz="2000" dirty="0">
                <a:solidFill>
                  <a:schemeClr val="tx1"/>
                </a:solidFill>
                <a:ea typeface="Calibri" panose="020F0502020204030204" pitchFamily="34" charset="0"/>
                <a:cs typeface="+mn-lt"/>
                <a:sym typeface="+mn-ea"/>
              </a:rPr>
              <a:t>SURE Trust </a:t>
            </a:r>
            <a:endParaRPr sz="2000" i="0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94E6B14-8F9E-6357-12C8-7804216672E0}"/>
              </a:ext>
            </a:extLst>
          </p:cNvPr>
          <p:cNvSpPr/>
          <p:nvPr/>
        </p:nvSpPr>
        <p:spPr>
          <a:xfrm>
            <a:off x="4218812" y="-102485"/>
            <a:ext cx="3386889" cy="9863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4400" b="1" dirty="0">
                <a:solidFill>
                  <a:srgbClr val="2F559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F05868CF-BF98-3D6D-4FDF-34351C7411D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86535" y="634994"/>
            <a:ext cx="12089207" cy="44096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Integration with SAP Fiori for an improved and user-friendly interface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Development of real-time dashboards for Materials Management data analysis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Integration with live SAP MM systems for real-time data processing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Implementation of advanced analytics and reporting for better decision-making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Automation using AI and Machine Learning for intelligent data insights and forecasting </a:t>
            </a:r>
          </a:p>
        </p:txBody>
      </p:sp>
    </p:spTree>
    <p:extLst>
      <p:ext uri="{BB962C8B-B14F-4D97-AF65-F5344CB8AC3E}">
        <p14:creationId xmlns:p14="http://schemas.microsoft.com/office/powerpoint/2010/main" val="38319676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" name="Google Shape;94;p1"/>
          <p:cNvGrpSpPr/>
          <p:nvPr/>
        </p:nvGrpSpPr>
        <p:grpSpPr>
          <a:xfrm>
            <a:off x="0" y="6350596"/>
            <a:ext cx="12192188" cy="507405"/>
            <a:chOff x="-514" y="9019181"/>
            <a:chExt cx="17348468" cy="721995"/>
          </a:xfrm>
        </p:grpSpPr>
        <p:sp>
          <p:nvSpPr>
            <p:cNvPr id="96" name="Google Shape;96;p1"/>
            <p:cNvSpPr/>
            <p:nvPr/>
          </p:nvSpPr>
          <p:spPr>
            <a:xfrm>
              <a:off x="5293059" y="9019181"/>
              <a:ext cx="1647825" cy="721995"/>
            </a:xfrm>
            <a:custGeom>
              <a:avLst/>
              <a:gdLst/>
              <a:ahLst/>
              <a:cxnLst/>
              <a:rect l="l" t="t" r="r" b="b"/>
              <a:pathLst>
                <a:path w="1647825" h="721995" extrusionOk="0">
                  <a:moveTo>
                    <a:pt x="1647578" y="0"/>
                  </a:moveTo>
                  <a:lnTo>
                    <a:pt x="357644" y="0"/>
                  </a:lnTo>
                  <a:lnTo>
                    <a:pt x="0" y="721979"/>
                  </a:lnTo>
                  <a:lnTo>
                    <a:pt x="1289933" y="721979"/>
                  </a:lnTo>
                  <a:lnTo>
                    <a:pt x="1647578" y="0"/>
                  </a:lnTo>
                  <a:close/>
                </a:path>
              </a:pathLst>
            </a:custGeom>
            <a:solidFill>
              <a:srgbClr val="FFF4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65"/>
                <a:buFont typeface="Arial" panose="020B0604020202020204"/>
                <a:buNone/>
              </a:pPr>
              <a:endParaRPr sz="12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7" name="Google Shape;97;p1"/>
            <p:cNvSpPr/>
            <p:nvPr/>
          </p:nvSpPr>
          <p:spPr>
            <a:xfrm>
              <a:off x="3260091" y="9019181"/>
              <a:ext cx="1647825" cy="721995"/>
            </a:xfrm>
            <a:custGeom>
              <a:avLst/>
              <a:gdLst/>
              <a:ahLst/>
              <a:cxnLst/>
              <a:rect l="l" t="t" r="r" b="b"/>
              <a:pathLst>
                <a:path w="1647825" h="721995" extrusionOk="0">
                  <a:moveTo>
                    <a:pt x="1647579" y="0"/>
                  </a:moveTo>
                  <a:lnTo>
                    <a:pt x="357645" y="0"/>
                  </a:lnTo>
                  <a:lnTo>
                    <a:pt x="0" y="721979"/>
                  </a:lnTo>
                  <a:lnTo>
                    <a:pt x="1289933" y="721979"/>
                  </a:lnTo>
                  <a:lnTo>
                    <a:pt x="1647579" y="0"/>
                  </a:lnTo>
                  <a:close/>
                </a:path>
              </a:pathLst>
            </a:custGeom>
            <a:solidFill>
              <a:srgbClr val="006EAD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65"/>
                <a:buFont typeface="Arial" panose="020B0604020202020204"/>
                <a:buNone/>
              </a:pPr>
              <a:endParaRPr sz="12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8" name="Google Shape;98;p1"/>
            <p:cNvSpPr/>
            <p:nvPr/>
          </p:nvSpPr>
          <p:spPr>
            <a:xfrm>
              <a:off x="5757299" y="9019181"/>
              <a:ext cx="11590655" cy="721995"/>
            </a:xfrm>
            <a:custGeom>
              <a:avLst/>
              <a:gdLst/>
              <a:ahLst/>
              <a:cxnLst/>
              <a:rect l="l" t="t" r="r" b="b"/>
              <a:pathLst>
                <a:path w="11590655" h="721995" extrusionOk="0">
                  <a:moveTo>
                    <a:pt x="11590369" y="0"/>
                  </a:moveTo>
                  <a:lnTo>
                    <a:pt x="0" y="0"/>
                  </a:lnTo>
                  <a:lnTo>
                    <a:pt x="0" y="721979"/>
                  </a:lnTo>
                  <a:lnTo>
                    <a:pt x="11590369" y="721979"/>
                  </a:lnTo>
                  <a:lnTo>
                    <a:pt x="11590369" y="0"/>
                  </a:lnTo>
                  <a:close/>
                </a:path>
              </a:pathLst>
            </a:custGeom>
            <a:solidFill>
              <a:srgbClr val="FFF4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65"/>
                <a:buFont typeface="Arial" panose="020B0604020202020204"/>
                <a:buNone/>
              </a:pPr>
              <a:endParaRPr sz="12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9" name="Google Shape;99;p1"/>
            <p:cNvSpPr/>
            <p:nvPr/>
          </p:nvSpPr>
          <p:spPr>
            <a:xfrm>
              <a:off x="-514" y="9019181"/>
              <a:ext cx="4516755" cy="721995"/>
            </a:xfrm>
            <a:custGeom>
              <a:avLst/>
              <a:gdLst/>
              <a:ahLst/>
              <a:cxnLst/>
              <a:rect l="l" t="t" r="r" b="b"/>
              <a:pathLst>
                <a:path w="4516755" h="721995" extrusionOk="0">
                  <a:moveTo>
                    <a:pt x="4516274" y="0"/>
                  </a:moveTo>
                  <a:lnTo>
                    <a:pt x="0" y="0"/>
                  </a:lnTo>
                  <a:lnTo>
                    <a:pt x="0" y="721979"/>
                  </a:lnTo>
                  <a:lnTo>
                    <a:pt x="4516274" y="721979"/>
                  </a:lnTo>
                  <a:lnTo>
                    <a:pt x="4516274" y="0"/>
                  </a:lnTo>
                  <a:close/>
                </a:path>
              </a:pathLst>
            </a:custGeom>
            <a:solidFill>
              <a:srgbClr val="006EAD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65"/>
                <a:buFont typeface="Arial" panose="020B0604020202020204"/>
                <a:buNone/>
              </a:pPr>
              <a:endParaRPr sz="12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0535" y="1098550"/>
            <a:ext cx="11156315" cy="5069205"/>
          </a:xfrm>
        </p:spPr>
        <p:txBody>
          <a:bodyPr>
            <a:normAutofit/>
          </a:bodyPr>
          <a:lstStyle/>
          <a:p>
            <a:pPr marL="3657600" lvl="8" indent="0" algn="ctr" fontAlgn="base">
              <a:buNone/>
            </a:pPr>
            <a:r>
              <a:rPr lang="en-US" sz="4600" dirty="0"/>
              <a:t>                                                                                           </a:t>
            </a:r>
            <a:r>
              <a:rPr lang="en-US" sz="5000" dirty="0"/>
              <a:t>                        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EDA8578-638A-7C1F-520C-8DFC8B9D0B37}"/>
              </a:ext>
            </a:extLst>
          </p:cNvPr>
          <p:cNvSpPr/>
          <p:nvPr/>
        </p:nvSpPr>
        <p:spPr>
          <a:xfrm>
            <a:off x="3890942" y="2967335"/>
            <a:ext cx="441011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5400" b="1" cap="none" spc="0" dirty="0">
              <a:ln w="0"/>
              <a:solidFill>
                <a:schemeClr val="accent2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2" descr="SURE TRUST | LinkedIn">
            <a:extLst>
              <a:ext uri="{FF2B5EF4-FFF2-40B4-BE49-F238E27FC236}">
                <a16:creationId xmlns:a16="http://schemas.microsoft.com/office/drawing/2014/main" id="{D5BB1497-0F73-32FE-D0CE-DC81DF4863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25000" y="109708"/>
            <a:ext cx="780465" cy="7804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Google Shape;102;p1">
            <a:extLst>
              <a:ext uri="{FF2B5EF4-FFF2-40B4-BE49-F238E27FC236}">
                <a16:creationId xmlns:a16="http://schemas.microsoft.com/office/drawing/2014/main" id="{3752D223-7B4F-AB28-6EBB-3A1C037011D5}"/>
              </a:ext>
            </a:extLst>
          </p:cNvPr>
          <p:cNvSpPr txBox="1"/>
          <p:nvPr/>
        </p:nvSpPr>
        <p:spPr>
          <a:xfrm>
            <a:off x="770279" y="6423025"/>
            <a:ext cx="135808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IN" sz="1800" b="0" i="0" u="none" strike="noStrike" cap="none" dirty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SAP ABAP</a:t>
            </a:r>
            <a:endParaRPr sz="1800" b="0" i="0" u="none" strike="noStrike" cap="none" dirty="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" name="Google Shape;100;p1">
            <a:extLst>
              <a:ext uri="{FF2B5EF4-FFF2-40B4-BE49-F238E27FC236}">
                <a16:creationId xmlns:a16="http://schemas.microsoft.com/office/drawing/2014/main" id="{9CB9C11B-CA39-7B72-9C19-212F35FEF4FF}"/>
              </a:ext>
            </a:extLst>
          </p:cNvPr>
          <p:cNvSpPr txBox="1">
            <a:spLocks noGrp="1"/>
          </p:cNvSpPr>
          <p:nvPr>
            <p:ph type="ftr" sz="quarter" idx="11"/>
          </p:nvPr>
        </p:nvSpPr>
        <p:spPr>
          <a:xfrm>
            <a:off x="4038600" y="6423025"/>
            <a:ext cx="7172390" cy="335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8550" rIns="0" bIns="0" anchor="t" anchorCtr="0">
            <a:spAutoFit/>
          </a:bodyPr>
          <a:lstStyle/>
          <a:p>
            <a:pPr marR="0" indent="0" algn="ctr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6197600" algn="l"/>
              </a:tabLst>
            </a:pPr>
            <a:r>
              <a:rPr lang="en-US" altLang="en-US" sz="2000" dirty="0">
                <a:solidFill>
                  <a:schemeClr val="tx1"/>
                </a:solidFill>
                <a:ea typeface="Calibri" panose="020F0502020204030204" pitchFamily="34" charset="0"/>
                <a:cs typeface="+mn-lt"/>
                <a:sym typeface="+mn-ea"/>
              </a:rPr>
              <a:t>SURE Trust </a:t>
            </a:r>
            <a:endParaRPr sz="2000" i="0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1091</TotalTime>
  <Words>814</Words>
  <Application>Microsoft Office PowerPoint</Application>
  <PresentationFormat>Widescreen</PresentationFormat>
  <Paragraphs>186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Calibri Light</vt:lpstr>
      <vt:lpstr>Lucida Sans</vt:lpstr>
      <vt:lpstr>Times New Roman</vt:lpstr>
      <vt:lpstr>Office Theme</vt:lpstr>
      <vt:lpstr>Integrated SAP ABAP Solution for Materials Management (MM): ALV Report, Smart Forms, and Submit Report</vt:lpstr>
      <vt:lpstr>                                   Contents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 K Harsha Vardhan</dc:creator>
  <cp:lastModifiedBy>YERRA VARSHITHA</cp:lastModifiedBy>
  <cp:revision>200</cp:revision>
  <dcterms:created xsi:type="dcterms:W3CDTF">2024-05-30T15:07:00Z</dcterms:created>
  <dcterms:modified xsi:type="dcterms:W3CDTF">2026-04-25T10:28:35Z</dcterms:modified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C5E5455C90C6415CB805DC0E30F1BC26_13</vt:lpwstr>
  </property>
  <property fmtid="{D5CDD505-2E9C-101B-9397-08002B2CF9AE}" pid="3" name="KSOProductBuildVer">
    <vt:lpwstr>1033-12.2.0.13472</vt:lpwstr>
  </property>
</Properties>
</file>